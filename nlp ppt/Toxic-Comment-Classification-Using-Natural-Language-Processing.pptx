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Consolas" panose="020B0609020204030204" pitchFamily="49" charset="0"/>
      <p:regular r:id="rId14"/>
      <p:bold r:id="rId15"/>
      <p:italic r:id="rId16"/>
      <p:boldItalic r:id="rId17"/>
    </p:embeddedFont>
    <p:embeddedFont>
      <p:font typeface="Fraunces Extra Bold" panose="020B0604020202020204" charset="0"/>
      <p:regular r:id="rId18"/>
    </p:embeddedFont>
    <p:embeddedFont>
      <p:font typeface="Nobile" panose="020B0604020202020204" charset="0"/>
      <p:regular r:id="rId19"/>
    </p:embeddedFont>
    <p:embeddedFont>
      <p:font typeface="Trebuchet MS" panose="020B0603020202020204" pitchFamily="34" charset="0"/>
      <p:regular r:id="rId20"/>
      <p:bold r:id="rId21"/>
      <p:italic r:id="rId22"/>
      <p:boldItalic r:id="rId23"/>
    </p:embeddedFont>
    <p:embeddedFont>
      <p:font typeface="Wingdings 3" panose="050401020108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65678-5A58-424F-AC61-903A48715E77}" v="5" dt="2026-01-06T04:07:37.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01"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mitha Venkatesan" userId="211f53885f20572e" providerId="LiveId" clId="{E87B2231-33D6-4B93-9B05-D9926F0F27E6}"/>
    <pc:docChg chg="custSel addSld modSld modMainMaster">
      <pc:chgData name="Madhumitha Venkatesan" userId="211f53885f20572e" providerId="LiveId" clId="{E87B2231-33D6-4B93-9B05-D9926F0F27E6}" dt="2026-01-06T04:09:03.400" v="115" actId="403"/>
      <pc:docMkLst>
        <pc:docMk/>
      </pc:docMkLst>
      <pc:sldChg chg="addSp modSp mod">
        <pc:chgData name="Madhumitha Venkatesan" userId="211f53885f20572e" providerId="LiveId" clId="{E87B2231-33D6-4B93-9B05-D9926F0F27E6}" dt="2026-01-06T04:09:03.400" v="115" actId="403"/>
        <pc:sldMkLst>
          <pc:docMk/>
          <pc:sldMk cId="0" sldId="256"/>
        </pc:sldMkLst>
        <pc:spChg chg="add mod">
          <ac:chgData name="Madhumitha Venkatesan" userId="211f53885f20572e" providerId="LiveId" clId="{E87B2231-33D6-4B93-9B05-D9926F0F27E6}" dt="2026-01-06T04:09:03.400" v="115" actId="403"/>
          <ac:spMkLst>
            <pc:docMk/>
            <pc:sldMk cId="0" sldId="256"/>
            <ac:spMk id="4" creationId="{62777C18-952B-9E0C-7F5B-46CC28185796}"/>
          </ac:spMkLst>
        </pc:spChg>
      </pc:sldChg>
      <pc:sldChg chg="modSp mod">
        <pc:chgData name="Madhumitha Venkatesan" userId="211f53885f20572e" providerId="LiveId" clId="{E87B2231-33D6-4B93-9B05-D9926F0F27E6}" dt="2026-01-06T02:47:43.835" v="33" actId="1035"/>
        <pc:sldMkLst>
          <pc:docMk/>
          <pc:sldMk cId="0" sldId="263"/>
        </pc:sldMkLst>
        <pc:picChg chg="mod">
          <ac:chgData name="Madhumitha Venkatesan" userId="211f53885f20572e" providerId="LiveId" clId="{E87B2231-33D6-4B93-9B05-D9926F0F27E6}" dt="2026-01-06T02:47:43.835" v="33" actId="1035"/>
          <ac:picMkLst>
            <pc:docMk/>
            <pc:sldMk cId="0" sldId="263"/>
            <ac:picMk id="3" creationId="{00000000-0000-0000-0000-000000000000}"/>
          </ac:picMkLst>
        </pc:picChg>
      </pc:sldChg>
      <pc:sldChg chg="addSp delSp modSp new mod">
        <pc:chgData name="Madhumitha Venkatesan" userId="211f53885f20572e" providerId="LiveId" clId="{E87B2231-33D6-4B93-9B05-D9926F0F27E6}" dt="2026-01-06T04:08:26.684" v="114" actId="1076"/>
        <pc:sldMkLst>
          <pc:docMk/>
          <pc:sldMk cId="1914412347" sldId="266"/>
        </pc:sldMkLst>
        <pc:spChg chg="add mod">
          <ac:chgData name="Madhumitha Venkatesan" userId="211f53885f20572e" providerId="LiveId" clId="{E87B2231-33D6-4B93-9B05-D9926F0F27E6}" dt="2026-01-06T04:08:26.684" v="114" actId="1076"/>
          <ac:spMkLst>
            <pc:docMk/>
            <pc:sldMk cId="1914412347" sldId="266"/>
            <ac:spMk id="2" creationId="{A47EE8B5-CF84-3AA4-F3A6-768BA34CF1E1}"/>
          </ac:spMkLst>
        </pc:spChg>
        <pc:spChg chg="add del mod">
          <ac:chgData name="Madhumitha Venkatesan" userId="211f53885f20572e" providerId="LiveId" clId="{E87B2231-33D6-4B93-9B05-D9926F0F27E6}" dt="2026-01-06T02:53:44.608" v="36" actId="478"/>
          <ac:spMkLst>
            <pc:docMk/>
            <pc:sldMk cId="1914412347" sldId="266"/>
            <ac:spMk id="2" creationId="{C221728D-BBEF-E02A-9EE7-E96E8C7FAFED}"/>
          </ac:spMkLst>
        </pc:spChg>
        <pc:picChg chg="add del mod">
          <ac:chgData name="Madhumitha Venkatesan" userId="211f53885f20572e" providerId="LiveId" clId="{E87B2231-33D6-4B93-9B05-D9926F0F27E6}" dt="2026-01-06T04:07:27.605" v="85" actId="478"/>
          <ac:picMkLst>
            <pc:docMk/>
            <pc:sldMk cId="1914412347" sldId="266"/>
            <ac:picMk id="4" creationId="{34110671-4CC7-FC9F-98AC-CA5D8C3856F7}"/>
          </ac:picMkLst>
        </pc:picChg>
      </pc:sldChg>
      <pc:sldMasterChg chg="modSldLayout">
        <pc:chgData name="Madhumitha Venkatesan" userId="211f53885f20572e" providerId="LiveId" clId="{E87B2231-33D6-4B93-9B05-D9926F0F27E6}" dt="2026-01-05T13:28:15.754" v="1"/>
        <pc:sldMasterMkLst>
          <pc:docMk/>
          <pc:sldMasterMk cId="2831365940" sldId="2147483660"/>
        </pc:sldMasterMkLst>
        <pc:sldLayoutChg chg="delSp">
          <pc:chgData name="Madhumitha Venkatesan" userId="211f53885f20572e" providerId="LiveId" clId="{E87B2231-33D6-4B93-9B05-D9926F0F27E6}" dt="2026-01-05T13:28:15.754" v="1"/>
          <pc:sldLayoutMkLst>
            <pc:docMk/>
            <pc:sldMasterMk cId="2831365940" sldId="2147483660"/>
            <pc:sldLayoutMk cId="674178940" sldId="2147483677"/>
          </pc:sldLayoutMkLst>
          <pc:spChg chg="del">
            <ac:chgData name="Madhumitha Venkatesan" userId="211f53885f20572e" providerId="LiveId" clId="{E87B2231-33D6-4B93-9B05-D9926F0F27E6}" dt="2026-01-05T13:28:15.754" v="1"/>
            <ac:spMkLst>
              <pc:docMk/>
              <pc:sldMasterMk cId="2831365940" sldId="2147483660"/>
              <pc:sldLayoutMk cId="674178940" sldId="2147483677"/>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674178940" sldId="2147483677"/>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674178940" sldId="2147483677"/>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3191684070" sldId="2147483678"/>
          </pc:sldLayoutMkLst>
          <pc:spChg chg="del">
            <ac:chgData name="Madhumitha Venkatesan" userId="211f53885f20572e" providerId="LiveId" clId="{E87B2231-33D6-4B93-9B05-D9926F0F27E6}" dt="2026-01-05T13:28:15.754" v="1"/>
            <ac:spMkLst>
              <pc:docMk/>
              <pc:sldMasterMk cId="2831365940" sldId="2147483660"/>
              <pc:sldLayoutMk cId="3191684070" sldId="2147483678"/>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3191684070" sldId="2147483678"/>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3191684070" sldId="2147483678"/>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2423543423" sldId="2147483679"/>
          </pc:sldLayoutMkLst>
          <pc:spChg chg="del">
            <ac:chgData name="Madhumitha Venkatesan" userId="211f53885f20572e" providerId="LiveId" clId="{E87B2231-33D6-4B93-9B05-D9926F0F27E6}" dt="2026-01-05T13:28:15.754" v="1"/>
            <ac:spMkLst>
              <pc:docMk/>
              <pc:sldMasterMk cId="2831365940" sldId="2147483660"/>
              <pc:sldLayoutMk cId="2423543423" sldId="2147483679"/>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2423543423" sldId="2147483679"/>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2423543423" sldId="2147483679"/>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1525723786" sldId="2147483680"/>
          </pc:sldLayoutMkLst>
          <pc:spChg chg="del">
            <ac:chgData name="Madhumitha Venkatesan" userId="211f53885f20572e" providerId="LiveId" clId="{E87B2231-33D6-4B93-9B05-D9926F0F27E6}" dt="2026-01-05T13:28:15.754" v="1"/>
            <ac:spMkLst>
              <pc:docMk/>
              <pc:sldMasterMk cId="2831365940" sldId="2147483660"/>
              <pc:sldLayoutMk cId="1525723786" sldId="2147483680"/>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1525723786" sldId="2147483680"/>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1525723786" sldId="2147483680"/>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2534533600" sldId="2147483681"/>
          </pc:sldLayoutMkLst>
          <pc:spChg chg="del">
            <ac:chgData name="Madhumitha Venkatesan" userId="211f53885f20572e" providerId="LiveId" clId="{E87B2231-33D6-4B93-9B05-D9926F0F27E6}" dt="2026-01-05T13:28:15.754" v="1"/>
            <ac:spMkLst>
              <pc:docMk/>
              <pc:sldMasterMk cId="2831365940" sldId="2147483660"/>
              <pc:sldLayoutMk cId="2534533600" sldId="2147483681"/>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2534533600" sldId="2147483681"/>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2534533600" sldId="2147483681"/>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546256789" sldId="2147483682"/>
          </pc:sldLayoutMkLst>
          <pc:spChg chg="del">
            <ac:chgData name="Madhumitha Venkatesan" userId="211f53885f20572e" providerId="LiveId" clId="{E87B2231-33D6-4B93-9B05-D9926F0F27E6}" dt="2026-01-05T13:28:15.754" v="1"/>
            <ac:spMkLst>
              <pc:docMk/>
              <pc:sldMasterMk cId="2831365940" sldId="2147483660"/>
              <pc:sldLayoutMk cId="546256789" sldId="2147483682"/>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546256789" sldId="2147483682"/>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546256789" sldId="2147483682"/>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3536326695" sldId="2147483683"/>
          </pc:sldLayoutMkLst>
          <pc:spChg chg="del">
            <ac:chgData name="Madhumitha Venkatesan" userId="211f53885f20572e" providerId="LiveId" clId="{E87B2231-33D6-4B93-9B05-D9926F0F27E6}" dt="2026-01-05T13:28:15.754" v="1"/>
            <ac:spMkLst>
              <pc:docMk/>
              <pc:sldMasterMk cId="2831365940" sldId="2147483660"/>
              <pc:sldLayoutMk cId="3536326695" sldId="2147483683"/>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3536326695" sldId="2147483683"/>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3536326695" sldId="2147483683"/>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1999715853" sldId="2147483684"/>
          </pc:sldLayoutMkLst>
          <pc:spChg chg="del">
            <ac:chgData name="Madhumitha Venkatesan" userId="211f53885f20572e" providerId="LiveId" clId="{E87B2231-33D6-4B93-9B05-D9926F0F27E6}" dt="2026-01-05T13:28:15.754" v="1"/>
            <ac:spMkLst>
              <pc:docMk/>
              <pc:sldMasterMk cId="2831365940" sldId="2147483660"/>
              <pc:sldLayoutMk cId="1999715853" sldId="2147483684"/>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1999715853" sldId="2147483684"/>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1999715853" sldId="2147483684"/>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397444122" sldId="2147483685"/>
          </pc:sldLayoutMkLst>
          <pc:spChg chg="del">
            <ac:chgData name="Madhumitha Venkatesan" userId="211f53885f20572e" providerId="LiveId" clId="{E87B2231-33D6-4B93-9B05-D9926F0F27E6}" dt="2026-01-05T13:28:15.754" v="1"/>
            <ac:spMkLst>
              <pc:docMk/>
              <pc:sldMasterMk cId="2831365940" sldId="2147483660"/>
              <pc:sldLayoutMk cId="397444122" sldId="2147483685"/>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397444122" sldId="2147483685"/>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397444122" sldId="2147483685"/>
              <ac:picMk id="4" creationId="{00000000-0000-0000-0000-000000000000}"/>
            </ac:picMkLst>
          </pc:picChg>
        </pc:sldLayoutChg>
        <pc:sldLayoutChg chg="delSp">
          <pc:chgData name="Madhumitha Venkatesan" userId="211f53885f20572e" providerId="LiveId" clId="{E87B2231-33D6-4B93-9B05-D9926F0F27E6}" dt="2026-01-05T13:28:15.754" v="1"/>
          <pc:sldLayoutMkLst>
            <pc:docMk/>
            <pc:sldMasterMk cId="2831365940" sldId="2147483660"/>
            <pc:sldLayoutMk cId="613348032" sldId="2147483686"/>
          </pc:sldLayoutMkLst>
          <pc:spChg chg="del">
            <ac:chgData name="Madhumitha Venkatesan" userId="211f53885f20572e" providerId="LiveId" clId="{E87B2231-33D6-4B93-9B05-D9926F0F27E6}" dt="2026-01-05T13:28:15.754" v="1"/>
            <ac:spMkLst>
              <pc:docMk/>
              <pc:sldMasterMk cId="2831365940" sldId="2147483660"/>
              <pc:sldLayoutMk cId="613348032" sldId="2147483686"/>
              <ac:spMk id="2" creationId="{00000000-0000-0000-0000-000000000000}"/>
            </ac:spMkLst>
          </pc:spChg>
          <pc:spChg chg="del">
            <ac:chgData name="Madhumitha Venkatesan" userId="211f53885f20572e" providerId="LiveId" clId="{E87B2231-33D6-4B93-9B05-D9926F0F27E6}" dt="2026-01-05T13:28:15.754" v="1"/>
            <ac:spMkLst>
              <pc:docMk/>
              <pc:sldMasterMk cId="2831365940" sldId="2147483660"/>
              <pc:sldLayoutMk cId="613348032" sldId="2147483686"/>
              <ac:spMk id="3" creationId="{00000000-0000-0000-0000-000000000000}"/>
            </ac:spMkLst>
          </pc:spChg>
          <pc:picChg chg="del">
            <ac:chgData name="Madhumitha Venkatesan" userId="211f53885f20572e" providerId="LiveId" clId="{E87B2231-33D6-4B93-9B05-D9926F0F27E6}" dt="2026-01-05T13:28:15.754" v="1"/>
            <ac:picMkLst>
              <pc:docMk/>
              <pc:sldMasterMk cId="2831365940" sldId="2147483660"/>
              <pc:sldLayoutMk cId="613348032" sldId="2147483686"/>
              <ac:picMk id="4"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2056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3264363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1008606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7741440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18298755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4819614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5672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5440591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0594391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072541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902249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a:rPr>
              <a:t>”</a:t>
            </a:r>
            <a:endParaRPr lang="en-US" sz="2160" dirty="0">
              <a:solidFill>
                <a:schemeClr val="accent1">
                  <a:lumMod val="60000"/>
                  <a:lumOff val="40000"/>
                </a:schemeClr>
              </a:solidFill>
              <a:latin typeface="Arial"/>
            </a:endParaRPr>
          </a:p>
        </p:txBody>
      </p:sp>
    </p:spTree>
    <p:extLst>
      <p:ext uri="{BB962C8B-B14F-4D97-AF65-F5344CB8AC3E}">
        <p14:creationId xmlns:p14="http://schemas.microsoft.com/office/powerpoint/2010/main" val="37918056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9831764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7623020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3006203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50545017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7763010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178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16840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3543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723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45336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256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326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715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441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13348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dirty="0"/>
              <a:pPr/>
              <a:t>1/6/2026</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313659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5.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97242"/>
            <a:ext cx="7556421" cy="2835116"/>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Toxic Comment Classification Using Natural Language Processing</a:t>
            </a:r>
            <a:endParaRPr lang="en-US" sz="4450" dirty="0"/>
          </a:p>
        </p:txBody>
      </p:sp>
      <p:sp>
        <p:nvSpPr>
          <p:cNvPr id="4" name="TextBox 3">
            <a:extLst>
              <a:ext uri="{FF2B5EF4-FFF2-40B4-BE49-F238E27FC236}">
                <a16:creationId xmlns:a16="http://schemas.microsoft.com/office/drawing/2014/main" id="{62777C18-952B-9E0C-7F5B-46CC28185796}"/>
              </a:ext>
            </a:extLst>
          </p:cNvPr>
          <p:cNvSpPr txBox="1"/>
          <p:nvPr/>
        </p:nvSpPr>
        <p:spPr>
          <a:xfrm>
            <a:off x="6193410" y="6070863"/>
            <a:ext cx="5971315" cy="461665"/>
          </a:xfrm>
          <a:prstGeom prst="rect">
            <a:avLst/>
          </a:prstGeom>
          <a:noFill/>
        </p:spPr>
        <p:txBody>
          <a:bodyPr wrap="none" rtlCol="0">
            <a:spAutoFit/>
          </a:bodyPr>
          <a:lstStyle/>
          <a:p>
            <a:r>
              <a:rPr lang="en-US" sz="2400" dirty="0">
                <a:solidFill>
                  <a:schemeClr val="tx1">
                    <a:lumMod val="85000"/>
                    <a:lumOff val="15000"/>
                  </a:schemeClr>
                </a:solidFill>
              </a:rPr>
              <a:t>Presented by: </a:t>
            </a:r>
            <a:r>
              <a:rPr lang="en-US" sz="2400" dirty="0" err="1">
                <a:solidFill>
                  <a:schemeClr val="tx1">
                    <a:lumMod val="85000"/>
                    <a:lumOff val="15000"/>
                  </a:schemeClr>
                </a:solidFill>
              </a:rPr>
              <a:t>V.Madhumitha</a:t>
            </a:r>
            <a:r>
              <a:rPr lang="en-US" sz="2400" dirty="0">
                <a:solidFill>
                  <a:schemeClr val="tx1">
                    <a:lumMod val="85000"/>
                    <a:lumOff val="15000"/>
                  </a:schemeClr>
                </a:solidFill>
              </a:rPr>
              <a:t> and </a:t>
            </a:r>
            <a:r>
              <a:rPr lang="en-US" sz="2400" dirty="0" err="1">
                <a:solidFill>
                  <a:schemeClr val="tx1">
                    <a:lumMod val="85000"/>
                    <a:lumOff val="15000"/>
                  </a:schemeClr>
                </a:solidFill>
              </a:rPr>
              <a:t>R.Aswini</a:t>
            </a:r>
            <a:endParaRPr lang="en-IN" sz="2400" dirty="0">
              <a:solidFill>
                <a:schemeClr val="tx1">
                  <a:lumMod val="85000"/>
                  <a:lumOff val="1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26907"/>
            <a:ext cx="9789914"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Project Overview: Tackling Online Toxicity</a:t>
            </a:r>
            <a:endParaRPr lang="en-US" sz="3550" dirty="0"/>
          </a:p>
        </p:txBody>
      </p:sp>
      <p:sp>
        <p:nvSpPr>
          <p:cNvPr id="3" name="Text 1"/>
          <p:cNvSpPr/>
          <p:nvPr/>
        </p:nvSpPr>
        <p:spPr>
          <a:xfrm>
            <a:off x="793790" y="2947511"/>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This project aims to automatically classify online comments as either 'Toxic' or 'Non-Toxic' using Natural Language Processing (NLP) techniques. Social media platforms often struggle with moderating offensive content; this system provides a real-time solution.</a:t>
            </a:r>
            <a:endParaRPr lang="en-US" sz="1750" dirty="0"/>
          </a:p>
        </p:txBody>
      </p:sp>
      <p:sp>
        <p:nvSpPr>
          <p:cNvPr id="4" name="Shape 2"/>
          <p:cNvSpPr/>
          <p:nvPr/>
        </p:nvSpPr>
        <p:spPr>
          <a:xfrm>
            <a:off x="793790" y="4291370"/>
            <a:ext cx="510302" cy="510302"/>
          </a:xfrm>
          <a:prstGeom prst="roundRect">
            <a:avLst>
              <a:gd name="adj" fmla="val 40005"/>
            </a:avLst>
          </a:prstGeom>
          <a:solidFill>
            <a:srgbClr val="E8F3E8"/>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60" y="4376380"/>
            <a:ext cx="340162" cy="340162"/>
          </a:xfrm>
          <a:prstGeom prst="rect">
            <a:avLst/>
          </a:prstGeom>
        </p:spPr>
      </p:pic>
      <p:sp>
        <p:nvSpPr>
          <p:cNvPr id="6" name="Text 3"/>
          <p:cNvSpPr/>
          <p:nvPr/>
        </p:nvSpPr>
        <p:spPr>
          <a:xfrm>
            <a:off x="1530906" y="4369237"/>
            <a:ext cx="3421499" cy="708660"/>
          </a:xfrm>
          <a:prstGeom prst="rect">
            <a:avLst/>
          </a:prstGeom>
          <a:noFill/>
          <a:ln/>
        </p:spPr>
        <p:txBody>
          <a:bodyPr wrap="squar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Real-time Classification</a:t>
            </a:r>
            <a:endParaRPr lang="en-US" sz="2200" dirty="0"/>
          </a:p>
        </p:txBody>
      </p:sp>
      <p:sp>
        <p:nvSpPr>
          <p:cNvPr id="7" name="Text 4"/>
          <p:cNvSpPr/>
          <p:nvPr/>
        </p:nvSpPr>
        <p:spPr>
          <a:xfrm>
            <a:off x="1530906" y="5213985"/>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Processes text data to instantly categorise comments.</a:t>
            </a:r>
            <a:endParaRPr lang="en-US" sz="1750" dirty="0"/>
          </a:p>
        </p:txBody>
      </p:sp>
      <p:sp>
        <p:nvSpPr>
          <p:cNvPr id="8" name="Shape 5"/>
          <p:cNvSpPr/>
          <p:nvPr/>
        </p:nvSpPr>
        <p:spPr>
          <a:xfrm>
            <a:off x="5235893" y="4291370"/>
            <a:ext cx="510302" cy="510302"/>
          </a:xfrm>
          <a:prstGeom prst="roundRect">
            <a:avLst>
              <a:gd name="adj" fmla="val 40005"/>
            </a:avLst>
          </a:prstGeom>
          <a:solidFill>
            <a:srgbClr val="E8F3E8"/>
          </a:solidFill>
          <a:ln/>
        </p:spPr>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20963" y="4376380"/>
            <a:ext cx="340162" cy="340162"/>
          </a:xfrm>
          <a:prstGeom prst="rect">
            <a:avLst/>
          </a:prstGeom>
        </p:spPr>
      </p:pic>
      <p:sp>
        <p:nvSpPr>
          <p:cNvPr id="10" name="Text 6"/>
          <p:cNvSpPr/>
          <p:nvPr/>
        </p:nvSpPr>
        <p:spPr>
          <a:xfrm>
            <a:off x="5973008" y="436923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Python &amp; Streamlit</a:t>
            </a:r>
            <a:endParaRPr lang="en-US" sz="2200" dirty="0"/>
          </a:p>
        </p:txBody>
      </p:sp>
      <p:sp>
        <p:nvSpPr>
          <p:cNvPr id="11" name="Text 7"/>
          <p:cNvSpPr/>
          <p:nvPr/>
        </p:nvSpPr>
        <p:spPr>
          <a:xfrm>
            <a:off x="5973008" y="4859655"/>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Developed with a user-friendly web interface for interaction.</a:t>
            </a:r>
            <a:endParaRPr lang="en-US" sz="1750" dirty="0"/>
          </a:p>
        </p:txBody>
      </p:sp>
      <p:sp>
        <p:nvSpPr>
          <p:cNvPr id="12" name="Shape 8"/>
          <p:cNvSpPr/>
          <p:nvPr/>
        </p:nvSpPr>
        <p:spPr>
          <a:xfrm>
            <a:off x="9677995" y="4291370"/>
            <a:ext cx="510302" cy="510302"/>
          </a:xfrm>
          <a:prstGeom prst="roundRect">
            <a:avLst>
              <a:gd name="adj" fmla="val 40005"/>
            </a:avLst>
          </a:prstGeom>
          <a:solidFill>
            <a:srgbClr val="E8F3E8"/>
          </a:solidFill>
          <a:ln/>
        </p:spPr>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63065" y="4376380"/>
            <a:ext cx="340162" cy="340162"/>
          </a:xfrm>
          <a:prstGeom prst="rect">
            <a:avLst/>
          </a:prstGeom>
        </p:spPr>
      </p:pic>
      <p:sp>
        <p:nvSpPr>
          <p:cNvPr id="14" name="Text 9"/>
          <p:cNvSpPr/>
          <p:nvPr/>
        </p:nvSpPr>
        <p:spPr>
          <a:xfrm>
            <a:off x="10415111" y="4369237"/>
            <a:ext cx="3290649"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Enhancing Moderation</a:t>
            </a:r>
            <a:endParaRPr lang="en-US" sz="2200" dirty="0"/>
          </a:p>
        </p:txBody>
      </p:sp>
      <p:sp>
        <p:nvSpPr>
          <p:cNvPr id="15" name="Text 10"/>
          <p:cNvSpPr/>
          <p:nvPr/>
        </p:nvSpPr>
        <p:spPr>
          <a:xfrm>
            <a:off x="10415111" y="4859655"/>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Assists platforms in maintaining healthier online communities.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00714"/>
            <a:ext cx="7556421" cy="1133951"/>
          </a:xfrm>
          <a:prstGeom prst="rect">
            <a:avLst/>
          </a:prstGeom>
          <a:noFill/>
          <a:ln/>
        </p:spPr>
        <p:txBody>
          <a:bodyPr wrap="squar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Why Automated Toxicity Detection Matters</a:t>
            </a:r>
            <a:endParaRPr lang="en-US" sz="3550" dirty="0"/>
          </a:p>
        </p:txBody>
      </p:sp>
      <p:sp>
        <p:nvSpPr>
          <p:cNvPr id="4" name="Text 1"/>
          <p:cNvSpPr/>
          <p:nvPr/>
        </p:nvSpPr>
        <p:spPr>
          <a:xfrm>
            <a:off x="6280190" y="3374827"/>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Online platforms are frequently plagued by abusive comments, which can severely damage community engagement and user experience. Automating the detection of such content is crucial for efficient content management and fostering a positive online environment.</a:t>
            </a:r>
            <a:endParaRPr lang="en-US" sz="1750" dirty="0"/>
          </a:p>
        </p:txBody>
      </p:sp>
      <p:sp>
        <p:nvSpPr>
          <p:cNvPr id="5" name="Text 2"/>
          <p:cNvSpPr/>
          <p:nvPr/>
        </p:nvSpPr>
        <p:spPr>
          <a:xfrm>
            <a:off x="6280190" y="5081588"/>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Identifies harmful content automatically.</a:t>
            </a:r>
            <a:endParaRPr lang="en-US" sz="1750" dirty="0"/>
          </a:p>
        </p:txBody>
      </p:sp>
      <p:sp>
        <p:nvSpPr>
          <p:cNvPr id="6" name="Text 3"/>
          <p:cNvSpPr/>
          <p:nvPr/>
        </p:nvSpPr>
        <p:spPr>
          <a:xfrm>
            <a:off x="6280190" y="5523786"/>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Reduces the burden on human moderators.</a:t>
            </a:r>
            <a:endParaRPr lang="en-US" sz="1750" dirty="0"/>
          </a:p>
        </p:txBody>
      </p:sp>
      <p:sp>
        <p:nvSpPr>
          <p:cNvPr id="7" name="Text 4"/>
          <p:cNvSpPr/>
          <p:nvPr/>
        </p:nvSpPr>
        <p:spPr>
          <a:xfrm>
            <a:off x="6280190" y="5965984"/>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Applies text preprocessing, vectorisation, and classification.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75435"/>
            <a:ext cx="11392138"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Project Objectives: Building a Robust NLP System</a:t>
            </a:r>
            <a:endParaRPr lang="en-US" sz="3550" dirty="0"/>
          </a:p>
        </p:txBody>
      </p:sp>
      <p:sp>
        <p:nvSpPr>
          <p:cNvPr id="3" name="Text 1"/>
          <p:cNvSpPr/>
          <p:nvPr/>
        </p:nvSpPr>
        <p:spPr>
          <a:xfrm>
            <a:off x="793790" y="259603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Fraunces Light" pitchFamily="34" charset="0"/>
                <a:ea typeface="Fraunces Light" pitchFamily="34" charset="-122"/>
                <a:cs typeface="Fraunces Light" pitchFamily="34" charset="-120"/>
              </a:rPr>
              <a:t>01</a:t>
            </a:r>
            <a:endParaRPr lang="en-US" sz="1750" dirty="0"/>
          </a:p>
        </p:txBody>
      </p:sp>
      <p:sp>
        <p:nvSpPr>
          <p:cNvPr id="4" name="Shape 2"/>
          <p:cNvSpPr/>
          <p:nvPr/>
        </p:nvSpPr>
        <p:spPr>
          <a:xfrm>
            <a:off x="793790" y="2951083"/>
            <a:ext cx="4196358" cy="30480"/>
          </a:xfrm>
          <a:prstGeom prst="rect">
            <a:avLst/>
          </a:prstGeom>
          <a:solidFill>
            <a:srgbClr val="438951"/>
          </a:solidFill>
          <a:ln/>
        </p:spPr>
      </p:sp>
      <p:sp>
        <p:nvSpPr>
          <p:cNvPr id="5" name="Text 3"/>
          <p:cNvSpPr/>
          <p:nvPr/>
        </p:nvSpPr>
        <p:spPr>
          <a:xfrm>
            <a:off x="793790" y="312539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Text Preprocessing</a:t>
            </a:r>
            <a:endParaRPr lang="en-US" sz="2200" dirty="0"/>
          </a:p>
        </p:txBody>
      </p:sp>
      <p:sp>
        <p:nvSpPr>
          <p:cNvPr id="6" name="Text 4"/>
          <p:cNvSpPr/>
          <p:nvPr/>
        </p:nvSpPr>
        <p:spPr>
          <a:xfrm>
            <a:off x="793790" y="3615809"/>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Clean, tokenize, and lemmatise raw text data for analysis.</a:t>
            </a:r>
            <a:endParaRPr lang="en-US" sz="1750" dirty="0"/>
          </a:p>
        </p:txBody>
      </p:sp>
      <p:sp>
        <p:nvSpPr>
          <p:cNvPr id="7" name="Text 5"/>
          <p:cNvSpPr/>
          <p:nvPr/>
        </p:nvSpPr>
        <p:spPr>
          <a:xfrm>
            <a:off x="5216962" y="259603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Fraunces Light" pitchFamily="34" charset="0"/>
                <a:ea typeface="Fraunces Light" pitchFamily="34" charset="-122"/>
                <a:cs typeface="Fraunces Light" pitchFamily="34" charset="-120"/>
              </a:rPr>
              <a:t>02</a:t>
            </a:r>
            <a:endParaRPr lang="en-US" sz="1750" dirty="0"/>
          </a:p>
        </p:txBody>
      </p:sp>
      <p:sp>
        <p:nvSpPr>
          <p:cNvPr id="8" name="Shape 6"/>
          <p:cNvSpPr/>
          <p:nvPr/>
        </p:nvSpPr>
        <p:spPr>
          <a:xfrm>
            <a:off x="5216962" y="2951083"/>
            <a:ext cx="4196358" cy="30480"/>
          </a:xfrm>
          <a:prstGeom prst="rect">
            <a:avLst/>
          </a:prstGeom>
          <a:solidFill>
            <a:srgbClr val="438951"/>
          </a:solidFill>
          <a:ln/>
        </p:spPr>
      </p:sp>
      <p:sp>
        <p:nvSpPr>
          <p:cNvPr id="9" name="Text 7"/>
          <p:cNvSpPr/>
          <p:nvPr/>
        </p:nvSpPr>
        <p:spPr>
          <a:xfrm>
            <a:off x="5216962" y="3125391"/>
            <a:ext cx="2930247"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Feature Engineering</a:t>
            </a:r>
            <a:endParaRPr lang="en-US" sz="2200" dirty="0"/>
          </a:p>
        </p:txBody>
      </p:sp>
      <p:sp>
        <p:nvSpPr>
          <p:cNvPr id="10" name="Text 8"/>
          <p:cNvSpPr/>
          <p:nvPr/>
        </p:nvSpPr>
        <p:spPr>
          <a:xfrm>
            <a:off x="5216962" y="3615809"/>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Convert text into numerical features using TF-IDF vectorisation.</a:t>
            </a:r>
            <a:endParaRPr lang="en-US" sz="1750" dirty="0"/>
          </a:p>
        </p:txBody>
      </p:sp>
      <p:sp>
        <p:nvSpPr>
          <p:cNvPr id="11" name="Text 9"/>
          <p:cNvSpPr/>
          <p:nvPr/>
        </p:nvSpPr>
        <p:spPr>
          <a:xfrm>
            <a:off x="9640133" y="259603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Fraunces Light" pitchFamily="34" charset="0"/>
                <a:ea typeface="Fraunces Light" pitchFamily="34" charset="-122"/>
                <a:cs typeface="Fraunces Light" pitchFamily="34" charset="-120"/>
              </a:rPr>
              <a:t>03</a:t>
            </a:r>
            <a:endParaRPr lang="en-US" sz="1750" dirty="0"/>
          </a:p>
        </p:txBody>
      </p:sp>
      <p:sp>
        <p:nvSpPr>
          <p:cNvPr id="12" name="Shape 10"/>
          <p:cNvSpPr/>
          <p:nvPr/>
        </p:nvSpPr>
        <p:spPr>
          <a:xfrm>
            <a:off x="9640133" y="2951083"/>
            <a:ext cx="4196358" cy="30480"/>
          </a:xfrm>
          <a:prstGeom prst="rect">
            <a:avLst/>
          </a:prstGeom>
          <a:solidFill>
            <a:srgbClr val="438951"/>
          </a:solidFill>
          <a:ln/>
        </p:spPr>
      </p:sp>
      <p:sp>
        <p:nvSpPr>
          <p:cNvPr id="13" name="Text 11"/>
          <p:cNvSpPr/>
          <p:nvPr/>
        </p:nvSpPr>
        <p:spPr>
          <a:xfrm>
            <a:off x="9640133" y="3125391"/>
            <a:ext cx="3450908"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Comment Classification</a:t>
            </a:r>
            <a:endParaRPr lang="en-US" sz="2200" dirty="0"/>
          </a:p>
        </p:txBody>
      </p:sp>
      <p:sp>
        <p:nvSpPr>
          <p:cNvPr id="14" name="Text 12"/>
          <p:cNvSpPr/>
          <p:nvPr/>
        </p:nvSpPr>
        <p:spPr>
          <a:xfrm>
            <a:off x="9640133" y="3615809"/>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Categorise comments as 'Toxic' or 'Non-Toxic' using machine learning.</a:t>
            </a:r>
            <a:endParaRPr lang="en-US" sz="1750" dirty="0"/>
          </a:p>
        </p:txBody>
      </p:sp>
      <p:sp>
        <p:nvSpPr>
          <p:cNvPr id="15" name="Text 13"/>
          <p:cNvSpPr/>
          <p:nvPr/>
        </p:nvSpPr>
        <p:spPr>
          <a:xfrm>
            <a:off x="793790" y="473844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Fraunces Light" pitchFamily="34" charset="0"/>
                <a:ea typeface="Fraunces Light" pitchFamily="34" charset="-122"/>
                <a:cs typeface="Fraunces Light" pitchFamily="34" charset="-120"/>
              </a:rPr>
              <a:t>04</a:t>
            </a:r>
            <a:endParaRPr lang="en-US" sz="1750" dirty="0"/>
          </a:p>
        </p:txBody>
      </p:sp>
      <p:sp>
        <p:nvSpPr>
          <p:cNvPr id="16" name="Shape 14"/>
          <p:cNvSpPr/>
          <p:nvPr/>
        </p:nvSpPr>
        <p:spPr>
          <a:xfrm>
            <a:off x="793790" y="5093494"/>
            <a:ext cx="6407944" cy="30480"/>
          </a:xfrm>
          <a:prstGeom prst="rect">
            <a:avLst/>
          </a:prstGeom>
          <a:solidFill>
            <a:srgbClr val="438951"/>
          </a:solidFill>
          <a:ln/>
        </p:spPr>
      </p:sp>
      <p:sp>
        <p:nvSpPr>
          <p:cNvPr id="17" name="Text 15"/>
          <p:cNvSpPr/>
          <p:nvPr/>
        </p:nvSpPr>
        <p:spPr>
          <a:xfrm>
            <a:off x="793790" y="5267801"/>
            <a:ext cx="4351853"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Web Application Development</a:t>
            </a:r>
            <a:endParaRPr lang="en-US" sz="2200" dirty="0"/>
          </a:p>
        </p:txBody>
      </p:sp>
      <p:sp>
        <p:nvSpPr>
          <p:cNvPr id="18" name="Text 16"/>
          <p:cNvSpPr/>
          <p:nvPr/>
        </p:nvSpPr>
        <p:spPr>
          <a:xfrm>
            <a:off x="793790" y="5758220"/>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Create a Streamlit interface for real-time analysis and user interaction.</a:t>
            </a:r>
            <a:endParaRPr lang="en-US" sz="1750" dirty="0"/>
          </a:p>
        </p:txBody>
      </p:sp>
      <p:sp>
        <p:nvSpPr>
          <p:cNvPr id="19" name="Text 17"/>
          <p:cNvSpPr/>
          <p:nvPr/>
        </p:nvSpPr>
        <p:spPr>
          <a:xfrm>
            <a:off x="7428548" y="473844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Fraunces Light" pitchFamily="34" charset="0"/>
                <a:ea typeface="Fraunces Light" pitchFamily="34" charset="-122"/>
                <a:cs typeface="Fraunces Light" pitchFamily="34" charset="-120"/>
              </a:rPr>
              <a:t>05</a:t>
            </a:r>
            <a:endParaRPr lang="en-US" sz="1750" dirty="0"/>
          </a:p>
        </p:txBody>
      </p:sp>
      <p:sp>
        <p:nvSpPr>
          <p:cNvPr id="20" name="Shape 18"/>
          <p:cNvSpPr/>
          <p:nvPr/>
        </p:nvSpPr>
        <p:spPr>
          <a:xfrm>
            <a:off x="7428548" y="5093494"/>
            <a:ext cx="6407944" cy="30480"/>
          </a:xfrm>
          <a:prstGeom prst="rect">
            <a:avLst/>
          </a:prstGeom>
          <a:solidFill>
            <a:srgbClr val="438951"/>
          </a:solidFill>
          <a:ln/>
        </p:spPr>
      </p:sp>
      <p:sp>
        <p:nvSpPr>
          <p:cNvPr id="21" name="Text 19"/>
          <p:cNvSpPr/>
          <p:nvPr/>
        </p:nvSpPr>
        <p:spPr>
          <a:xfrm>
            <a:off x="7428548" y="526780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Batch Analysis</a:t>
            </a:r>
            <a:endParaRPr lang="en-US" sz="2200" dirty="0"/>
          </a:p>
        </p:txBody>
      </p:sp>
      <p:sp>
        <p:nvSpPr>
          <p:cNvPr id="22" name="Text 20"/>
          <p:cNvSpPr/>
          <p:nvPr/>
        </p:nvSpPr>
        <p:spPr>
          <a:xfrm>
            <a:off x="7428548" y="5758220"/>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Enable simultaneous analysis of multiple comments.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45920"/>
            <a:ext cx="8232100"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Key Tools and Technologies Utilised</a:t>
            </a:r>
            <a:endParaRPr lang="en-US" sz="3550" dirty="0"/>
          </a:p>
        </p:txBody>
      </p:sp>
      <p:sp>
        <p:nvSpPr>
          <p:cNvPr id="3" name="Shape 1"/>
          <p:cNvSpPr/>
          <p:nvPr/>
        </p:nvSpPr>
        <p:spPr>
          <a:xfrm>
            <a:off x="793790" y="2666524"/>
            <a:ext cx="13042821" cy="3917156"/>
          </a:xfrm>
          <a:prstGeom prst="roundRect">
            <a:avLst>
              <a:gd name="adj" fmla="val 5212"/>
            </a:avLst>
          </a:prstGeom>
          <a:noFill/>
          <a:ln w="7620">
            <a:solidFill>
              <a:srgbClr val="000000">
                <a:alpha val="8000"/>
              </a:srgbClr>
            </a:solidFill>
            <a:prstDash val="solid"/>
          </a:ln>
        </p:spPr>
      </p:sp>
      <p:sp>
        <p:nvSpPr>
          <p:cNvPr id="4" name="Shape 2"/>
          <p:cNvSpPr/>
          <p:nvPr/>
        </p:nvSpPr>
        <p:spPr>
          <a:xfrm>
            <a:off x="801410" y="2674144"/>
            <a:ext cx="13027581" cy="650319"/>
          </a:xfrm>
          <a:prstGeom prst="rect">
            <a:avLst/>
          </a:prstGeom>
          <a:solidFill>
            <a:srgbClr val="FFFFFF">
              <a:alpha val="4000"/>
            </a:srgbClr>
          </a:solidFill>
          <a:ln/>
        </p:spPr>
      </p:sp>
      <p:sp>
        <p:nvSpPr>
          <p:cNvPr id="5" name="Text 3"/>
          <p:cNvSpPr/>
          <p:nvPr/>
        </p:nvSpPr>
        <p:spPr>
          <a:xfrm>
            <a:off x="1028343" y="2817852"/>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Python</a:t>
            </a:r>
            <a:endParaRPr lang="en-US" sz="1750" dirty="0"/>
          </a:p>
        </p:txBody>
      </p:sp>
      <p:sp>
        <p:nvSpPr>
          <p:cNvPr id="6" name="Text 4"/>
          <p:cNvSpPr/>
          <p:nvPr/>
        </p:nvSpPr>
        <p:spPr>
          <a:xfrm>
            <a:off x="4940379" y="2817852"/>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Primary programming language for development.</a:t>
            </a:r>
            <a:endParaRPr lang="en-US" sz="1750" dirty="0"/>
          </a:p>
        </p:txBody>
      </p:sp>
      <p:sp>
        <p:nvSpPr>
          <p:cNvPr id="7" name="Shape 5"/>
          <p:cNvSpPr/>
          <p:nvPr/>
        </p:nvSpPr>
        <p:spPr>
          <a:xfrm>
            <a:off x="801410" y="3324463"/>
            <a:ext cx="13027581" cy="650319"/>
          </a:xfrm>
          <a:prstGeom prst="rect">
            <a:avLst/>
          </a:prstGeom>
          <a:solidFill>
            <a:srgbClr val="000000">
              <a:alpha val="4000"/>
            </a:srgbClr>
          </a:solidFill>
          <a:ln/>
        </p:spPr>
      </p:sp>
      <p:sp>
        <p:nvSpPr>
          <p:cNvPr id="8" name="Text 6"/>
          <p:cNvSpPr/>
          <p:nvPr/>
        </p:nvSpPr>
        <p:spPr>
          <a:xfrm>
            <a:off x="1028343" y="3468172"/>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Pandas</a:t>
            </a:r>
            <a:endParaRPr lang="en-US" sz="1750" dirty="0"/>
          </a:p>
        </p:txBody>
      </p:sp>
      <p:sp>
        <p:nvSpPr>
          <p:cNvPr id="9" name="Text 7"/>
          <p:cNvSpPr/>
          <p:nvPr/>
        </p:nvSpPr>
        <p:spPr>
          <a:xfrm>
            <a:off x="4940379" y="3468172"/>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Efficient handling and manipulation of dataframes.</a:t>
            </a:r>
            <a:endParaRPr lang="en-US" sz="1750" dirty="0"/>
          </a:p>
        </p:txBody>
      </p:sp>
      <p:sp>
        <p:nvSpPr>
          <p:cNvPr id="10" name="Shape 8"/>
          <p:cNvSpPr/>
          <p:nvPr/>
        </p:nvSpPr>
        <p:spPr>
          <a:xfrm>
            <a:off x="801410" y="3974783"/>
            <a:ext cx="13027581" cy="650319"/>
          </a:xfrm>
          <a:prstGeom prst="rect">
            <a:avLst/>
          </a:prstGeom>
          <a:solidFill>
            <a:srgbClr val="FFFFFF">
              <a:alpha val="4000"/>
            </a:srgbClr>
          </a:solidFill>
          <a:ln/>
        </p:spPr>
      </p:sp>
      <p:sp>
        <p:nvSpPr>
          <p:cNvPr id="11" name="Text 9"/>
          <p:cNvSpPr/>
          <p:nvPr/>
        </p:nvSpPr>
        <p:spPr>
          <a:xfrm>
            <a:off x="1028343" y="4118491"/>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NLTK</a:t>
            </a:r>
            <a:endParaRPr lang="en-US" sz="1750" dirty="0"/>
          </a:p>
        </p:txBody>
      </p:sp>
      <p:sp>
        <p:nvSpPr>
          <p:cNvPr id="12" name="Text 10"/>
          <p:cNvSpPr/>
          <p:nvPr/>
        </p:nvSpPr>
        <p:spPr>
          <a:xfrm>
            <a:off x="4940379" y="4118491"/>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Text preprocessing functionalities (tokenisation, lemmatisation).</a:t>
            </a:r>
            <a:endParaRPr lang="en-US" sz="1750" dirty="0"/>
          </a:p>
        </p:txBody>
      </p:sp>
      <p:sp>
        <p:nvSpPr>
          <p:cNvPr id="13" name="Shape 11"/>
          <p:cNvSpPr/>
          <p:nvPr/>
        </p:nvSpPr>
        <p:spPr>
          <a:xfrm>
            <a:off x="801410" y="4625102"/>
            <a:ext cx="13027581" cy="650319"/>
          </a:xfrm>
          <a:prstGeom prst="rect">
            <a:avLst/>
          </a:prstGeom>
          <a:solidFill>
            <a:srgbClr val="000000">
              <a:alpha val="4000"/>
            </a:srgbClr>
          </a:solidFill>
          <a:ln/>
        </p:spPr>
      </p:sp>
      <p:sp>
        <p:nvSpPr>
          <p:cNvPr id="14" name="Text 12"/>
          <p:cNvSpPr/>
          <p:nvPr/>
        </p:nvSpPr>
        <p:spPr>
          <a:xfrm>
            <a:off x="1028343" y="4768810"/>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Scikit-learn</a:t>
            </a:r>
            <a:endParaRPr lang="en-US" sz="1750" dirty="0"/>
          </a:p>
        </p:txBody>
      </p:sp>
      <p:sp>
        <p:nvSpPr>
          <p:cNvPr id="15" name="Text 13"/>
          <p:cNvSpPr/>
          <p:nvPr/>
        </p:nvSpPr>
        <p:spPr>
          <a:xfrm>
            <a:off x="4940379" y="4768810"/>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TF-IDF vectorisation and Logistic Regression classification.</a:t>
            </a:r>
            <a:endParaRPr lang="en-US" sz="1750" dirty="0"/>
          </a:p>
        </p:txBody>
      </p:sp>
      <p:sp>
        <p:nvSpPr>
          <p:cNvPr id="16" name="Shape 14"/>
          <p:cNvSpPr/>
          <p:nvPr/>
        </p:nvSpPr>
        <p:spPr>
          <a:xfrm>
            <a:off x="801410" y="5275421"/>
            <a:ext cx="13027581" cy="650319"/>
          </a:xfrm>
          <a:prstGeom prst="rect">
            <a:avLst/>
          </a:prstGeom>
          <a:solidFill>
            <a:srgbClr val="FFFFFF">
              <a:alpha val="4000"/>
            </a:srgbClr>
          </a:solidFill>
          <a:ln/>
        </p:spPr>
      </p:sp>
      <p:sp>
        <p:nvSpPr>
          <p:cNvPr id="17" name="Text 15"/>
          <p:cNvSpPr/>
          <p:nvPr/>
        </p:nvSpPr>
        <p:spPr>
          <a:xfrm>
            <a:off x="1028343" y="5419130"/>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Streamlit</a:t>
            </a:r>
            <a:endParaRPr lang="en-US" sz="1750" dirty="0"/>
          </a:p>
        </p:txBody>
      </p:sp>
      <p:sp>
        <p:nvSpPr>
          <p:cNvPr id="18" name="Text 16"/>
          <p:cNvSpPr/>
          <p:nvPr/>
        </p:nvSpPr>
        <p:spPr>
          <a:xfrm>
            <a:off x="4940379" y="5419130"/>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Building the interactive web interface.</a:t>
            </a:r>
            <a:endParaRPr lang="en-US" sz="1750" dirty="0"/>
          </a:p>
        </p:txBody>
      </p:sp>
      <p:sp>
        <p:nvSpPr>
          <p:cNvPr id="19" name="Shape 17"/>
          <p:cNvSpPr/>
          <p:nvPr/>
        </p:nvSpPr>
        <p:spPr>
          <a:xfrm>
            <a:off x="801410" y="5925741"/>
            <a:ext cx="13027581" cy="650319"/>
          </a:xfrm>
          <a:prstGeom prst="rect">
            <a:avLst/>
          </a:prstGeom>
          <a:solidFill>
            <a:srgbClr val="000000">
              <a:alpha val="4000"/>
            </a:srgbClr>
          </a:solidFill>
          <a:ln/>
        </p:spPr>
      </p:sp>
      <p:sp>
        <p:nvSpPr>
          <p:cNvPr id="20" name="Text 18"/>
          <p:cNvSpPr/>
          <p:nvPr/>
        </p:nvSpPr>
        <p:spPr>
          <a:xfrm>
            <a:off x="1028343" y="6069449"/>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Joblib</a:t>
            </a:r>
            <a:endParaRPr lang="en-US" sz="1750" dirty="0"/>
          </a:p>
        </p:txBody>
      </p:sp>
      <p:sp>
        <p:nvSpPr>
          <p:cNvPr id="21" name="Text 19"/>
          <p:cNvSpPr/>
          <p:nvPr/>
        </p:nvSpPr>
        <p:spPr>
          <a:xfrm>
            <a:off x="4940379" y="6069449"/>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Saving and loading trained NLP models for deployment.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3425" y="576263"/>
            <a:ext cx="9704546" cy="523875"/>
          </a:xfrm>
          <a:prstGeom prst="rect">
            <a:avLst/>
          </a:prstGeom>
          <a:noFill/>
          <a:ln/>
        </p:spPr>
        <p:txBody>
          <a:bodyPr wrap="none" lIns="0" tIns="0" rIns="0" bIns="0" rtlCol="0" anchor="t"/>
          <a:lstStyle/>
          <a:p>
            <a:pPr marL="0" indent="0" algn="l">
              <a:lnSpc>
                <a:spcPts val="4100"/>
              </a:lnSpc>
              <a:buNone/>
            </a:pPr>
            <a:r>
              <a:rPr lang="en-US" sz="3300" b="1" dirty="0">
                <a:solidFill>
                  <a:srgbClr val="3B4540"/>
                </a:solidFill>
                <a:latin typeface="Fraunces Extra Bold" pitchFamily="34" charset="0"/>
                <a:ea typeface="Fraunces Extra Bold" pitchFamily="34" charset="-122"/>
                <a:cs typeface="Fraunces Extra Bold" pitchFamily="34" charset="-120"/>
              </a:rPr>
              <a:t>The Dataset: Fueling Our Classification Model</a:t>
            </a:r>
            <a:endParaRPr lang="en-US" sz="3300" dirty="0"/>
          </a:p>
        </p:txBody>
      </p:sp>
      <p:sp>
        <p:nvSpPr>
          <p:cNvPr id="3" name="Text 1"/>
          <p:cNvSpPr/>
          <p:nvPr/>
        </p:nvSpPr>
        <p:spPr>
          <a:xfrm>
            <a:off x="733425" y="1603058"/>
            <a:ext cx="6326148" cy="1028700"/>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Our model was trained on the </a:t>
            </a:r>
            <a:r>
              <a:rPr lang="en-US" sz="1650" dirty="0">
                <a:solidFill>
                  <a:srgbClr val="405449"/>
                </a:solidFill>
                <a:highlight>
                  <a:srgbClr val="EDF2ED"/>
                </a:highlight>
                <a:latin typeface="Consolas" pitchFamily="34" charset="0"/>
                <a:ea typeface="Consolas" pitchFamily="34" charset="-122"/>
                <a:cs typeface="Consolas" pitchFamily="34" charset="-120"/>
              </a:rPr>
              <a:t>toxic_comments.csv</a:t>
            </a:r>
            <a:r>
              <a:rPr lang="en-US" sz="1650" dirty="0">
                <a:solidFill>
                  <a:srgbClr val="405449"/>
                </a:solidFill>
                <a:latin typeface="Nobile" pitchFamily="34" charset="0"/>
                <a:ea typeface="Nobile" pitchFamily="34" charset="-122"/>
                <a:cs typeface="Nobile" pitchFamily="34" charset="-120"/>
              </a:rPr>
              <a:t> dataset, a comprehensive collection of comments vital for distinguishing toxic from non-toxic language.</a:t>
            </a:r>
            <a:endParaRPr lang="en-US" sz="1650" dirty="0"/>
          </a:p>
        </p:txBody>
      </p:sp>
      <p:sp>
        <p:nvSpPr>
          <p:cNvPr id="4" name="Text 2"/>
          <p:cNvSpPr/>
          <p:nvPr/>
        </p:nvSpPr>
        <p:spPr>
          <a:xfrm>
            <a:off x="733425" y="2820353"/>
            <a:ext cx="6326148" cy="358140"/>
          </a:xfrm>
          <a:prstGeom prst="rect">
            <a:avLst/>
          </a:prstGeom>
          <a:noFill/>
          <a:ln/>
        </p:spPr>
        <p:txBody>
          <a:bodyPr wrap="none" lIns="0" tIns="0" rIns="0" bIns="0" rtlCol="0" anchor="t"/>
          <a:lstStyle/>
          <a:p>
            <a:pPr marL="342900" indent="-342900" algn="l">
              <a:lnSpc>
                <a:spcPts val="2600"/>
              </a:lnSpc>
              <a:buSzPct val="100000"/>
              <a:buChar char="•"/>
            </a:pPr>
            <a:r>
              <a:rPr lang="en-US" sz="1650" b="1" dirty="0">
                <a:solidFill>
                  <a:srgbClr val="405449"/>
                </a:solidFill>
                <a:latin typeface="Nobile" pitchFamily="34" charset="0"/>
                <a:ea typeface="Nobile" pitchFamily="34" charset="-122"/>
                <a:cs typeface="Nobile" pitchFamily="34" charset="-120"/>
              </a:rPr>
              <a:t>Dataset Name:</a:t>
            </a:r>
            <a:r>
              <a:rPr lang="en-US" sz="1650" dirty="0">
                <a:solidFill>
                  <a:srgbClr val="405449"/>
                </a:solidFill>
                <a:latin typeface="Nobile" pitchFamily="34" charset="0"/>
                <a:ea typeface="Nobile" pitchFamily="34" charset="-122"/>
                <a:cs typeface="Nobile" pitchFamily="34" charset="-120"/>
              </a:rPr>
              <a:t> </a:t>
            </a:r>
            <a:r>
              <a:rPr lang="en-US" sz="1650" dirty="0">
                <a:solidFill>
                  <a:srgbClr val="405449"/>
                </a:solidFill>
                <a:highlight>
                  <a:srgbClr val="EDF2ED"/>
                </a:highlight>
                <a:latin typeface="Consolas" pitchFamily="34" charset="0"/>
                <a:ea typeface="Consolas" pitchFamily="34" charset="-122"/>
                <a:cs typeface="Consolas" pitchFamily="34" charset="-120"/>
              </a:rPr>
              <a:t>toxic_comments.csv</a:t>
            </a:r>
            <a:endParaRPr lang="en-US" sz="1650" dirty="0"/>
          </a:p>
        </p:txBody>
      </p:sp>
      <p:sp>
        <p:nvSpPr>
          <p:cNvPr id="5" name="Text 3"/>
          <p:cNvSpPr/>
          <p:nvPr/>
        </p:nvSpPr>
        <p:spPr>
          <a:xfrm>
            <a:off x="733425" y="3251835"/>
            <a:ext cx="6326148" cy="335280"/>
          </a:xfrm>
          <a:prstGeom prst="rect">
            <a:avLst/>
          </a:prstGeom>
          <a:noFill/>
          <a:ln/>
        </p:spPr>
        <p:txBody>
          <a:bodyPr wrap="none" lIns="0" tIns="0" rIns="0" bIns="0" rtlCol="0" anchor="t"/>
          <a:lstStyle/>
          <a:p>
            <a:pPr marL="342900" indent="-342900" algn="l">
              <a:lnSpc>
                <a:spcPts val="2600"/>
              </a:lnSpc>
              <a:buSzPct val="100000"/>
              <a:buChar char="•"/>
            </a:pPr>
            <a:r>
              <a:rPr lang="en-US" sz="1650" b="1" dirty="0">
                <a:solidFill>
                  <a:srgbClr val="405449"/>
                </a:solidFill>
                <a:latin typeface="Nobile" pitchFamily="34" charset="0"/>
                <a:ea typeface="Nobile" pitchFamily="34" charset="-122"/>
                <a:cs typeface="Nobile" pitchFamily="34" charset="-120"/>
              </a:rPr>
              <a:t>Key Columns:</a:t>
            </a:r>
            <a:endParaRPr lang="en-US" sz="1650" dirty="0"/>
          </a:p>
        </p:txBody>
      </p:sp>
      <p:sp>
        <p:nvSpPr>
          <p:cNvPr id="6" name="Text 4"/>
          <p:cNvSpPr/>
          <p:nvPr/>
        </p:nvSpPr>
        <p:spPr>
          <a:xfrm>
            <a:off x="733425" y="3660458"/>
            <a:ext cx="6326148" cy="358140"/>
          </a:xfrm>
          <a:prstGeom prst="rect">
            <a:avLst/>
          </a:prstGeom>
          <a:noFill/>
          <a:ln/>
        </p:spPr>
        <p:txBody>
          <a:bodyPr wrap="none" lIns="0" tIns="0" rIns="0" bIns="0" rtlCol="0" anchor="t"/>
          <a:lstStyle/>
          <a:p>
            <a:pPr marL="685800" lvl="1" indent="-342900" algn="l">
              <a:lnSpc>
                <a:spcPts val="2600"/>
              </a:lnSpc>
              <a:buSzPct val="100000"/>
              <a:buChar char="•"/>
            </a:pPr>
            <a:r>
              <a:rPr lang="en-US" sz="1650" dirty="0">
                <a:solidFill>
                  <a:srgbClr val="405449"/>
                </a:solidFill>
                <a:highlight>
                  <a:srgbClr val="EDF2ED"/>
                </a:highlight>
                <a:latin typeface="Consolas" pitchFamily="34" charset="0"/>
                <a:ea typeface="Consolas" pitchFamily="34" charset="-122"/>
                <a:cs typeface="Consolas" pitchFamily="34" charset="-120"/>
              </a:rPr>
              <a:t>comment_text</a:t>
            </a:r>
            <a:r>
              <a:rPr lang="en-US" sz="1650" dirty="0">
                <a:solidFill>
                  <a:srgbClr val="405449"/>
                </a:solidFill>
                <a:latin typeface="Nobile" pitchFamily="34" charset="0"/>
                <a:ea typeface="Nobile" pitchFamily="34" charset="-122"/>
                <a:cs typeface="Nobile" pitchFamily="34" charset="-120"/>
              </a:rPr>
              <a:t>: The raw text content of each comment.</a:t>
            </a:r>
            <a:endParaRPr lang="en-US" sz="1650" dirty="0"/>
          </a:p>
        </p:txBody>
      </p:sp>
      <p:sp>
        <p:nvSpPr>
          <p:cNvPr id="7" name="Text 5"/>
          <p:cNvSpPr/>
          <p:nvPr/>
        </p:nvSpPr>
        <p:spPr>
          <a:xfrm>
            <a:off x="733425" y="4091940"/>
            <a:ext cx="6326148" cy="358140"/>
          </a:xfrm>
          <a:prstGeom prst="rect">
            <a:avLst/>
          </a:prstGeom>
          <a:noFill/>
          <a:ln/>
        </p:spPr>
        <p:txBody>
          <a:bodyPr wrap="none" lIns="0" tIns="0" rIns="0" bIns="0" rtlCol="0" anchor="t"/>
          <a:lstStyle/>
          <a:p>
            <a:pPr marL="685800" lvl="1" indent="-342900" algn="l">
              <a:lnSpc>
                <a:spcPts val="2600"/>
              </a:lnSpc>
              <a:buSzPct val="100000"/>
              <a:buChar char="•"/>
            </a:pPr>
            <a:r>
              <a:rPr lang="en-US" sz="1650" dirty="0">
                <a:solidFill>
                  <a:srgbClr val="405449"/>
                </a:solidFill>
                <a:highlight>
                  <a:srgbClr val="EDF2ED"/>
                </a:highlight>
                <a:latin typeface="Consolas" pitchFamily="34" charset="0"/>
                <a:ea typeface="Consolas" pitchFamily="34" charset="-122"/>
                <a:cs typeface="Consolas" pitchFamily="34" charset="-120"/>
              </a:rPr>
              <a:t>toxic</a:t>
            </a:r>
            <a:r>
              <a:rPr lang="en-US" sz="1650" dirty="0">
                <a:solidFill>
                  <a:srgbClr val="405449"/>
                </a:solidFill>
                <a:latin typeface="Nobile" pitchFamily="34" charset="0"/>
                <a:ea typeface="Nobile" pitchFamily="34" charset="-122"/>
                <a:cs typeface="Nobile" pitchFamily="34" charset="-120"/>
              </a:rPr>
              <a:t>: A binary label (1 for Toxic, 0 for Non-Toxic).</a:t>
            </a:r>
            <a:endParaRPr lang="en-US" sz="1650" dirty="0"/>
          </a:p>
        </p:txBody>
      </p:sp>
      <p:sp>
        <p:nvSpPr>
          <p:cNvPr id="8" name="Text 6"/>
          <p:cNvSpPr/>
          <p:nvPr/>
        </p:nvSpPr>
        <p:spPr>
          <a:xfrm>
            <a:off x="733425" y="4523423"/>
            <a:ext cx="6326148" cy="670560"/>
          </a:xfrm>
          <a:prstGeom prst="rect">
            <a:avLst/>
          </a:prstGeom>
          <a:noFill/>
          <a:ln/>
        </p:spPr>
        <p:txBody>
          <a:bodyPr wrap="square" lIns="0" tIns="0" rIns="0" bIns="0" rtlCol="0" anchor="t"/>
          <a:lstStyle/>
          <a:p>
            <a:pPr marL="342900" indent="-342900" algn="l">
              <a:lnSpc>
                <a:spcPts val="2600"/>
              </a:lnSpc>
              <a:buSzPct val="100000"/>
              <a:buChar char="•"/>
            </a:pPr>
            <a:r>
              <a:rPr lang="en-US" sz="1650" b="1" dirty="0">
                <a:solidFill>
                  <a:srgbClr val="405449"/>
                </a:solidFill>
                <a:latin typeface="Nobile" pitchFamily="34" charset="0"/>
                <a:ea typeface="Nobile" pitchFamily="34" charset="-122"/>
                <a:cs typeface="Nobile" pitchFamily="34" charset="-120"/>
              </a:rPr>
              <a:t>Content:</a:t>
            </a:r>
            <a:r>
              <a:rPr lang="en-US" sz="1650" dirty="0">
                <a:solidFill>
                  <a:srgbClr val="405449"/>
                </a:solidFill>
                <a:latin typeface="Nobile" pitchFamily="34" charset="0"/>
                <a:ea typeface="Nobile" pitchFamily="34" charset="-122"/>
                <a:cs typeface="Nobile" pitchFamily="34" charset="-120"/>
              </a:rPr>
              <a:t> Thousands of diverse comments, encompassing both positive and negative examples.</a:t>
            </a:r>
            <a:endParaRPr lang="en-US" sz="1650" dirty="0"/>
          </a:p>
        </p:txBody>
      </p:sp>
      <p:pic>
        <p:nvPicPr>
          <p:cNvPr id="9" name="Image 0" descr="preencoded.png"/>
          <p:cNvPicPr>
            <a:picLocks noChangeAspect="1"/>
          </p:cNvPicPr>
          <p:nvPr/>
        </p:nvPicPr>
        <p:blipFill>
          <a:blip r:embed="rId3"/>
          <a:stretch>
            <a:fillRect/>
          </a:stretch>
        </p:blipFill>
        <p:spPr>
          <a:xfrm>
            <a:off x="7578447" y="1650206"/>
            <a:ext cx="6326148" cy="63261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88350"/>
            <a:ext cx="9645253"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Essential Text Preprocessing Steps in NLP</a:t>
            </a:r>
            <a:endParaRPr lang="en-US" sz="3550" dirty="0"/>
          </a:p>
        </p:txBody>
      </p:sp>
      <p:sp>
        <p:nvSpPr>
          <p:cNvPr id="3" name="Text 1"/>
          <p:cNvSpPr/>
          <p:nvPr/>
        </p:nvSpPr>
        <p:spPr>
          <a:xfrm>
            <a:off x="793790" y="210895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Transforming raw text into a machine-readable format is crucial for accurate classification. Our pipeline involves several key steps:</a:t>
            </a:r>
            <a:endParaRPr lang="en-US" sz="1750" dirty="0"/>
          </a:p>
        </p:txBody>
      </p:sp>
      <p:sp>
        <p:nvSpPr>
          <p:cNvPr id="4" name="Shape 2"/>
          <p:cNvSpPr/>
          <p:nvPr/>
        </p:nvSpPr>
        <p:spPr>
          <a:xfrm>
            <a:off x="793790" y="3089910"/>
            <a:ext cx="4196358" cy="1730812"/>
          </a:xfrm>
          <a:prstGeom prst="roundRect">
            <a:avLst>
              <a:gd name="adj" fmla="val 8453"/>
            </a:avLst>
          </a:prstGeom>
          <a:solidFill>
            <a:srgbClr val="FAFFFA"/>
          </a:solidFill>
          <a:ln w="30480">
            <a:solidFill>
              <a:srgbClr val="CED9CE"/>
            </a:solidFill>
            <a:prstDash val="solid"/>
          </a:ln>
        </p:spPr>
      </p:sp>
      <p:sp>
        <p:nvSpPr>
          <p:cNvPr id="5" name="Shape 3"/>
          <p:cNvSpPr/>
          <p:nvPr/>
        </p:nvSpPr>
        <p:spPr>
          <a:xfrm>
            <a:off x="763310" y="3089910"/>
            <a:ext cx="121920" cy="1730812"/>
          </a:xfrm>
          <a:prstGeom prst="roundRect">
            <a:avLst>
              <a:gd name="adj" fmla="val 167442"/>
            </a:avLst>
          </a:prstGeom>
          <a:solidFill>
            <a:srgbClr val="438951"/>
          </a:solidFill>
          <a:ln/>
        </p:spPr>
      </p:sp>
      <p:sp>
        <p:nvSpPr>
          <p:cNvPr id="6" name="Text 4"/>
          <p:cNvSpPr/>
          <p:nvPr/>
        </p:nvSpPr>
        <p:spPr>
          <a:xfrm>
            <a:off x="1142524" y="334720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Lowercasing</a:t>
            </a:r>
            <a:endParaRPr lang="en-US" sz="2200" dirty="0"/>
          </a:p>
        </p:txBody>
      </p:sp>
      <p:sp>
        <p:nvSpPr>
          <p:cNvPr id="7" name="Text 5"/>
          <p:cNvSpPr/>
          <p:nvPr/>
        </p:nvSpPr>
        <p:spPr>
          <a:xfrm>
            <a:off x="1142524" y="3837623"/>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Ensures uniformity by converting all text to lowercase.</a:t>
            </a:r>
            <a:endParaRPr lang="en-US" sz="1750" dirty="0"/>
          </a:p>
        </p:txBody>
      </p:sp>
      <p:sp>
        <p:nvSpPr>
          <p:cNvPr id="8" name="Shape 6"/>
          <p:cNvSpPr/>
          <p:nvPr/>
        </p:nvSpPr>
        <p:spPr>
          <a:xfrm>
            <a:off x="5216962" y="3089910"/>
            <a:ext cx="4196358" cy="1730812"/>
          </a:xfrm>
          <a:prstGeom prst="roundRect">
            <a:avLst>
              <a:gd name="adj" fmla="val 8453"/>
            </a:avLst>
          </a:prstGeom>
          <a:solidFill>
            <a:srgbClr val="FAFFFA"/>
          </a:solidFill>
          <a:ln w="30480">
            <a:solidFill>
              <a:srgbClr val="CED9CE"/>
            </a:solidFill>
            <a:prstDash val="solid"/>
          </a:ln>
        </p:spPr>
      </p:sp>
      <p:sp>
        <p:nvSpPr>
          <p:cNvPr id="9" name="Shape 7"/>
          <p:cNvSpPr/>
          <p:nvPr/>
        </p:nvSpPr>
        <p:spPr>
          <a:xfrm>
            <a:off x="5186482" y="3089910"/>
            <a:ext cx="121920" cy="1730812"/>
          </a:xfrm>
          <a:prstGeom prst="roundRect">
            <a:avLst>
              <a:gd name="adj" fmla="val 167442"/>
            </a:avLst>
          </a:prstGeom>
          <a:solidFill>
            <a:srgbClr val="438951"/>
          </a:solidFill>
          <a:ln/>
        </p:spPr>
      </p:sp>
      <p:sp>
        <p:nvSpPr>
          <p:cNvPr id="10" name="Text 8"/>
          <p:cNvSpPr/>
          <p:nvPr/>
        </p:nvSpPr>
        <p:spPr>
          <a:xfrm>
            <a:off x="5565696" y="334720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Character Removal</a:t>
            </a:r>
            <a:endParaRPr lang="en-US" sz="2200" dirty="0"/>
          </a:p>
        </p:txBody>
      </p:sp>
      <p:sp>
        <p:nvSpPr>
          <p:cNvPr id="11" name="Text 9"/>
          <p:cNvSpPr/>
          <p:nvPr/>
        </p:nvSpPr>
        <p:spPr>
          <a:xfrm>
            <a:off x="5565696" y="3837623"/>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Filters out special characters, retaining only letters and spaces.</a:t>
            </a:r>
            <a:endParaRPr lang="en-US" sz="1750" dirty="0"/>
          </a:p>
        </p:txBody>
      </p:sp>
      <p:sp>
        <p:nvSpPr>
          <p:cNvPr id="12" name="Shape 10"/>
          <p:cNvSpPr/>
          <p:nvPr/>
        </p:nvSpPr>
        <p:spPr>
          <a:xfrm>
            <a:off x="9640133" y="3089910"/>
            <a:ext cx="4196358" cy="1730812"/>
          </a:xfrm>
          <a:prstGeom prst="roundRect">
            <a:avLst>
              <a:gd name="adj" fmla="val 8453"/>
            </a:avLst>
          </a:prstGeom>
          <a:solidFill>
            <a:srgbClr val="FAFFFA"/>
          </a:solidFill>
          <a:ln w="30480">
            <a:solidFill>
              <a:srgbClr val="CED9CE"/>
            </a:solidFill>
            <a:prstDash val="solid"/>
          </a:ln>
        </p:spPr>
      </p:sp>
      <p:sp>
        <p:nvSpPr>
          <p:cNvPr id="13" name="Shape 11"/>
          <p:cNvSpPr/>
          <p:nvPr/>
        </p:nvSpPr>
        <p:spPr>
          <a:xfrm>
            <a:off x="9609653" y="3089910"/>
            <a:ext cx="121920" cy="1730812"/>
          </a:xfrm>
          <a:prstGeom prst="roundRect">
            <a:avLst>
              <a:gd name="adj" fmla="val 167442"/>
            </a:avLst>
          </a:prstGeom>
          <a:solidFill>
            <a:srgbClr val="438951"/>
          </a:solidFill>
          <a:ln/>
        </p:spPr>
      </p:sp>
      <p:sp>
        <p:nvSpPr>
          <p:cNvPr id="14" name="Text 12"/>
          <p:cNvSpPr/>
          <p:nvPr/>
        </p:nvSpPr>
        <p:spPr>
          <a:xfrm>
            <a:off x="9988868" y="334720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Tokenisation</a:t>
            </a:r>
            <a:endParaRPr lang="en-US" sz="2200" dirty="0"/>
          </a:p>
        </p:txBody>
      </p:sp>
      <p:sp>
        <p:nvSpPr>
          <p:cNvPr id="15" name="Text 13"/>
          <p:cNvSpPr/>
          <p:nvPr/>
        </p:nvSpPr>
        <p:spPr>
          <a:xfrm>
            <a:off x="9988868" y="3837623"/>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Breaks down sentences into individual words or 'tokens'.</a:t>
            </a:r>
            <a:endParaRPr lang="en-US" sz="1750" dirty="0"/>
          </a:p>
        </p:txBody>
      </p:sp>
      <p:sp>
        <p:nvSpPr>
          <p:cNvPr id="16" name="Shape 14"/>
          <p:cNvSpPr/>
          <p:nvPr/>
        </p:nvSpPr>
        <p:spPr>
          <a:xfrm>
            <a:off x="793790" y="5047536"/>
            <a:ext cx="4196358" cy="2093714"/>
          </a:xfrm>
          <a:prstGeom prst="roundRect">
            <a:avLst>
              <a:gd name="adj" fmla="val 6988"/>
            </a:avLst>
          </a:prstGeom>
          <a:solidFill>
            <a:srgbClr val="FAFFFA"/>
          </a:solidFill>
          <a:ln w="30480">
            <a:solidFill>
              <a:srgbClr val="CED9CE"/>
            </a:solidFill>
            <a:prstDash val="solid"/>
          </a:ln>
        </p:spPr>
      </p:sp>
      <p:sp>
        <p:nvSpPr>
          <p:cNvPr id="17" name="Shape 15"/>
          <p:cNvSpPr/>
          <p:nvPr/>
        </p:nvSpPr>
        <p:spPr>
          <a:xfrm>
            <a:off x="763310" y="5047536"/>
            <a:ext cx="121920" cy="2093714"/>
          </a:xfrm>
          <a:prstGeom prst="roundRect">
            <a:avLst>
              <a:gd name="adj" fmla="val 167442"/>
            </a:avLst>
          </a:prstGeom>
          <a:solidFill>
            <a:srgbClr val="438951"/>
          </a:solidFill>
          <a:ln/>
        </p:spPr>
      </p:sp>
      <p:sp>
        <p:nvSpPr>
          <p:cNvPr id="18" name="Text 16"/>
          <p:cNvSpPr/>
          <p:nvPr/>
        </p:nvSpPr>
        <p:spPr>
          <a:xfrm>
            <a:off x="1142524" y="53048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Lemmatisation</a:t>
            </a:r>
            <a:endParaRPr lang="en-US" sz="2200" dirty="0"/>
          </a:p>
        </p:txBody>
      </p:sp>
      <p:sp>
        <p:nvSpPr>
          <p:cNvPr id="19" name="Text 17"/>
          <p:cNvSpPr/>
          <p:nvPr/>
        </p:nvSpPr>
        <p:spPr>
          <a:xfrm>
            <a:off x="1142524" y="5795248"/>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Reduces words to their base or root forms (e.g., 'running' becomes 'run').</a:t>
            </a:r>
            <a:endParaRPr lang="en-US" sz="1750" dirty="0"/>
          </a:p>
        </p:txBody>
      </p:sp>
      <p:sp>
        <p:nvSpPr>
          <p:cNvPr id="20" name="Shape 18"/>
          <p:cNvSpPr/>
          <p:nvPr/>
        </p:nvSpPr>
        <p:spPr>
          <a:xfrm>
            <a:off x="5216962" y="5047536"/>
            <a:ext cx="4196358" cy="2093714"/>
          </a:xfrm>
          <a:prstGeom prst="roundRect">
            <a:avLst>
              <a:gd name="adj" fmla="val 6988"/>
            </a:avLst>
          </a:prstGeom>
          <a:solidFill>
            <a:srgbClr val="FAFFFA"/>
          </a:solidFill>
          <a:ln w="30480">
            <a:solidFill>
              <a:srgbClr val="CED9CE"/>
            </a:solidFill>
            <a:prstDash val="solid"/>
          </a:ln>
        </p:spPr>
      </p:sp>
      <p:sp>
        <p:nvSpPr>
          <p:cNvPr id="21" name="Shape 19"/>
          <p:cNvSpPr/>
          <p:nvPr/>
        </p:nvSpPr>
        <p:spPr>
          <a:xfrm>
            <a:off x="5186482" y="5047536"/>
            <a:ext cx="121920" cy="2093714"/>
          </a:xfrm>
          <a:prstGeom prst="roundRect">
            <a:avLst>
              <a:gd name="adj" fmla="val 167442"/>
            </a:avLst>
          </a:prstGeom>
          <a:solidFill>
            <a:srgbClr val="438951"/>
          </a:solidFill>
          <a:ln/>
        </p:spPr>
      </p:sp>
      <p:sp>
        <p:nvSpPr>
          <p:cNvPr id="22" name="Text 20"/>
          <p:cNvSpPr/>
          <p:nvPr/>
        </p:nvSpPr>
        <p:spPr>
          <a:xfrm>
            <a:off x="5565696" y="5304830"/>
            <a:ext cx="3045023"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TF-IDF Vectorisation</a:t>
            </a:r>
            <a:endParaRPr lang="en-US" sz="2200" dirty="0"/>
          </a:p>
        </p:txBody>
      </p:sp>
      <p:sp>
        <p:nvSpPr>
          <p:cNvPr id="23" name="Text 21"/>
          <p:cNvSpPr/>
          <p:nvPr/>
        </p:nvSpPr>
        <p:spPr>
          <a:xfrm>
            <a:off x="5565696" y="5795248"/>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Converts processed text into numerical vectors, reflecting word importance.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3425" y="576263"/>
            <a:ext cx="11279624" cy="523875"/>
          </a:xfrm>
          <a:prstGeom prst="rect">
            <a:avLst/>
          </a:prstGeom>
          <a:noFill/>
          <a:ln/>
        </p:spPr>
        <p:txBody>
          <a:bodyPr wrap="none" lIns="0" tIns="0" rIns="0" bIns="0" rtlCol="0" anchor="t"/>
          <a:lstStyle/>
          <a:p>
            <a:pPr marL="0" indent="0" algn="l">
              <a:lnSpc>
                <a:spcPts val="4100"/>
              </a:lnSpc>
              <a:buNone/>
            </a:pPr>
            <a:r>
              <a:rPr lang="en-US" sz="3300" b="1" dirty="0">
                <a:solidFill>
                  <a:srgbClr val="3B4540"/>
                </a:solidFill>
                <a:latin typeface="Fraunces Extra Bold" pitchFamily="34" charset="0"/>
                <a:ea typeface="Fraunces Extra Bold" pitchFamily="34" charset="-122"/>
                <a:cs typeface="Fraunces Extra Bold" pitchFamily="34" charset="-120"/>
              </a:rPr>
              <a:t>Comment Classification: Logistic Regression at Work</a:t>
            </a:r>
            <a:endParaRPr lang="en-US" sz="3300" dirty="0"/>
          </a:p>
        </p:txBody>
      </p:sp>
      <p:pic>
        <p:nvPicPr>
          <p:cNvPr id="3" name="Image 0" descr="preencoded.png"/>
          <p:cNvPicPr>
            <a:picLocks noChangeAspect="1"/>
          </p:cNvPicPr>
          <p:nvPr/>
        </p:nvPicPr>
        <p:blipFill>
          <a:blip r:embed="rId3"/>
          <a:stretch>
            <a:fillRect/>
          </a:stretch>
        </p:blipFill>
        <p:spPr>
          <a:xfrm>
            <a:off x="733425" y="1640779"/>
            <a:ext cx="6326148" cy="6326148"/>
          </a:xfrm>
          <a:prstGeom prst="rect">
            <a:avLst/>
          </a:prstGeom>
        </p:spPr>
      </p:pic>
      <p:sp>
        <p:nvSpPr>
          <p:cNvPr id="4" name="Text 1"/>
          <p:cNvSpPr/>
          <p:nvPr/>
        </p:nvSpPr>
        <p:spPr>
          <a:xfrm>
            <a:off x="7578447" y="1603058"/>
            <a:ext cx="6326148" cy="1341120"/>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The core of our classification system relies on Logistic Regression, integrated seamlessly into the NLP pipeline. This algorithm is effective for binary classification tasks like distinguishing toxic from non-toxic comments.</a:t>
            </a:r>
            <a:endParaRPr lang="en-US" sz="1650" dirty="0"/>
          </a:p>
        </p:txBody>
      </p:sp>
      <p:sp>
        <p:nvSpPr>
          <p:cNvPr id="5" name="Text 2"/>
          <p:cNvSpPr/>
          <p:nvPr/>
        </p:nvSpPr>
        <p:spPr>
          <a:xfrm>
            <a:off x="7578447" y="3132772"/>
            <a:ext cx="6326148" cy="335280"/>
          </a:xfrm>
          <a:prstGeom prst="rect">
            <a:avLst/>
          </a:prstGeom>
          <a:noFill/>
          <a:ln/>
        </p:spPr>
        <p:txBody>
          <a:bodyPr wrap="none" lIns="0" tIns="0" rIns="0" bIns="0" rtlCol="0" anchor="t"/>
          <a:lstStyle/>
          <a:p>
            <a:pPr marL="342900" indent="-342900" algn="l">
              <a:lnSpc>
                <a:spcPts val="2600"/>
              </a:lnSpc>
              <a:buSzPct val="100000"/>
              <a:buChar char="•"/>
            </a:pPr>
            <a:r>
              <a:rPr lang="en-US" sz="1650" b="1" dirty="0">
                <a:solidFill>
                  <a:srgbClr val="405449"/>
                </a:solidFill>
                <a:latin typeface="Nobile" pitchFamily="34" charset="0"/>
                <a:ea typeface="Nobile" pitchFamily="34" charset="-122"/>
                <a:cs typeface="Nobile" pitchFamily="34" charset="-120"/>
              </a:rPr>
              <a:t>Input:</a:t>
            </a:r>
            <a:r>
              <a:rPr lang="en-US" sz="1650" dirty="0">
                <a:solidFill>
                  <a:srgbClr val="405449"/>
                </a:solidFill>
                <a:latin typeface="Nobile" pitchFamily="34" charset="0"/>
                <a:ea typeface="Nobile" pitchFamily="34" charset="-122"/>
                <a:cs typeface="Nobile" pitchFamily="34" charset="-120"/>
              </a:rPr>
              <a:t> Cleaned and TF-IDF vectorized comments.</a:t>
            </a:r>
            <a:endParaRPr lang="en-US" sz="1650" dirty="0"/>
          </a:p>
        </p:txBody>
      </p:sp>
      <p:sp>
        <p:nvSpPr>
          <p:cNvPr id="6" name="Text 3"/>
          <p:cNvSpPr/>
          <p:nvPr/>
        </p:nvSpPr>
        <p:spPr>
          <a:xfrm>
            <a:off x="7578447" y="3541395"/>
            <a:ext cx="6326148" cy="670560"/>
          </a:xfrm>
          <a:prstGeom prst="rect">
            <a:avLst/>
          </a:prstGeom>
          <a:noFill/>
          <a:ln/>
        </p:spPr>
        <p:txBody>
          <a:bodyPr wrap="square" lIns="0" tIns="0" rIns="0" bIns="0" rtlCol="0" anchor="t"/>
          <a:lstStyle/>
          <a:p>
            <a:pPr marL="342900" indent="-342900" algn="l">
              <a:lnSpc>
                <a:spcPts val="2600"/>
              </a:lnSpc>
              <a:buSzPct val="100000"/>
              <a:buChar char="•"/>
            </a:pPr>
            <a:r>
              <a:rPr lang="en-US" sz="1650" b="1" dirty="0">
                <a:solidFill>
                  <a:srgbClr val="405449"/>
                </a:solidFill>
                <a:latin typeface="Nobile" pitchFamily="34" charset="0"/>
                <a:ea typeface="Nobile" pitchFamily="34" charset="-122"/>
                <a:cs typeface="Nobile" pitchFamily="34" charset="-120"/>
              </a:rPr>
              <a:t>Prediction:</a:t>
            </a:r>
            <a:r>
              <a:rPr lang="en-US" sz="1650" dirty="0">
                <a:solidFill>
                  <a:srgbClr val="405449"/>
                </a:solidFill>
                <a:latin typeface="Nobile" pitchFamily="34" charset="0"/>
                <a:ea typeface="Nobile" pitchFamily="34" charset="-122"/>
                <a:cs typeface="Nobile" pitchFamily="34" charset="-120"/>
              </a:rPr>
              <a:t> Logistic Regression determines if a comment is Toxic (1) or Non-Toxic (0).</a:t>
            </a:r>
            <a:endParaRPr lang="en-US" sz="1650" dirty="0"/>
          </a:p>
        </p:txBody>
      </p:sp>
      <p:sp>
        <p:nvSpPr>
          <p:cNvPr id="7" name="Text 4"/>
          <p:cNvSpPr/>
          <p:nvPr/>
        </p:nvSpPr>
        <p:spPr>
          <a:xfrm>
            <a:off x="7578447" y="4285298"/>
            <a:ext cx="6326148" cy="670560"/>
          </a:xfrm>
          <a:prstGeom prst="rect">
            <a:avLst/>
          </a:prstGeom>
          <a:noFill/>
          <a:ln/>
        </p:spPr>
        <p:txBody>
          <a:bodyPr wrap="square" lIns="0" tIns="0" rIns="0" bIns="0" rtlCol="0" anchor="t"/>
          <a:lstStyle/>
          <a:p>
            <a:pPr marL="342900" indent="-342900" algn="l">
              <a:lnSpc>
                <a:spcPts val="2600"/>
              </a:lnSpc>
              <a:buSzPct val="100000"/>
              <a:buChar char="•"/>
            </a:pPr>
            <a:r>
              <a:rPr lang="en-US" sz="1650" b="1" dirty="0">
                <a:solidFill>
                  <a:srgbClr val="405449"/>
                </a:solidFill>
                <a:latin typeface="Nobile" pitchFamily="34" charset="0"/>
                <a:ea typeface="Nobile" pitchFamily="34" charset="-122"/>
                <a:cs typeface="Nobile" pitchFamily="34" charset="-120"/>
              </a:rPr>
              <a:t>Confidence:</a:t>
            </a:r>
            <a:r>
              <a:rPr lang="en-US" sz="1650" dirty="0">
                <a:solidFill>
                  <a:srgbClr val="405449"/>
                </a:solidFill>
                <a:latin typeface="Nobile" pitchFamily="34" charset="0"/>
                <a:ea typeface="Nobile" pitchFamily="34" charset="-122"/>
                <a:cs typeface="Nobile" pitchFamily="34" charset="-120"/>
              </a:rPr>
              <a:t> Provides probabilities indicating the model's certainty.</a:t>
            </a:r>
            <a:endParaRPr lang="en-US" sz="1650" dirty="0"/>
          </a:p>
        </p:txBody>
      </p:sp>
      <p:sp>
        <p:nvSpPr>
          <p:cNvPr id="8" name="Shape 5"/>
          <p:cNvSpPr/>
          <p:nvPr/>
        </p:nvSpPr>
        <p:spPr>
          <a:xfrm>
            <a:off x="7578447" y="5191601"/>
            <a:ext cx="6326148" cy="1561148"/>
          </a:xfrm>
          <a:prstGeom prst="roundRect">
            <a:avLst>
              <a:gd name="adj" fmla="val 12081"/>
            </a:avLst>
          </a:prstGeom>
          <a:solidFill>
            <a:srgbClr val="CCE6D1"/>
          </a:solidFill>
          <a:ln/>
        </p:spPr>
      </p:sp>
      <p:pic>
        <p:nvPicPr>
          <p:cNvPr id="9" name="Image 1" descr="preencoded.png"/>
          <p:cNvPicPr>
            <a:picLocks noChangeAspect="1"/>
          </p:cNvPicPr>
          <p:nvPr/>
        </p:nvPicPr>
        <p:blipFill>
          <a:blip r:embed="rId4"/>
          <a:stretch>
            <a:fillRect/>
          </a:stretch>
        </p:blipFill>
        <p:spPr>
          <a:xfrm>
            <a:off x="7787997" y="5491163"/>
            <a:ext cx="261937" cy="209550"/>
          </a:xfrm>
          <a:prstGeom prst="rect">
            <a:avLst/>
          </a:prstGeom>
        </p:spPr>
      </p:pic>
      <p:sp>
        <p:nvSpPr>
          <p:cNvPr id="10" name="Text 6"/>
          <p:cNvSpPr/>
          <p:nvPr/>
        </p:nvSpPr>
        <p:spPr>
          <a:xfrm>
            <a:off x="8259485" y="5453539"/>
            <a:ext cx="5435560" cy="1005840"/>
          </a:xfrm>
          <a:prstGeom prst="rect">
            <a:avLst/>
          </a:prstGeom>
          <a:noFill/>
          <a:ln/>
        </p:spPr>
        <p:txBody>
          <a:bodyPr wrap="square" lIns="0" tIns="0" rIns="0" bIns="0" rtlCol="0" anchor="t"/>
          <a:lstStyle/>
          <a:p>
            <a:pPr marL="0" indent="0" algn="l">
              <a:lnSpc>
                <a:spcPts val="2600"/>
              </a:lnSpc>
              <a:buNone/>
            </a:pPr>
            <a:r>
              <a:rPr lang="en-US" sz="1650" dirty="0">
                <a:solidFill>
                  <a:srgbClr val="000000"/>
                </a:solidFill>
                <a:latin typeface="Nobile" pitchFamily="34" charset="0"/>
                <a:ea typeface="Nobile" pitchFamily="34" charset="-122"/>
                <a:cs typeface="Nobile" pitchFamily="34" charset="-120"/>
              </a:rPr>
              <a:t>While Logistic Regression is applied here as a text classification technique, the overarching focus remains on practical NLP application.</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07400"/>
            <a:ext cx="9889450"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Interactive Web Application with Streamlit</a:t>
            </a:r>
            <a:endParaRPr lang="en-US" sz="3550" dirty="0"/>
          </a:p>
        </p:txBody>
      </p:sp>
      <p:pic>
        <p:nvPicPr>
          <p:cNvPr id="3" name="Image 0" descr="preencoded.png"/>
          <p:cNvPicPr>
            <a:picLocks noChangeAspect="1"/>
          </p:cNvPicPr>
          <p:nvPr/>
        </p:nvPicPr>
        <p:blipFill>
          <a:blip r:embed="rId3"/>
          <a:stretch>
            <a:fillRect/>
          </a:stretch>
        </p:blipFill>
        <p:spPr>
          <a:xfrm>
            <a:off x="793790" y="2128004"/>
            <a:ext cx="4158615" cy="2570202"/>
          </a:xfrm>
          <a:prstGeom prst="rect">
            <a:avLst/>
          </a:prstGeom>
        </p:spPr>
      </p:pic>
      <p:sp>
        <p:nvSpPr>
          <p:cNvPr id="4" name="Text 1"/>
          <p:cNvSpPr/>
          <p:nvPr/>
        </p:nvSpPr>
        <p:spPr>
          <a:xfrm>
            <a:off x="793790" y="4925020"/>
            <a:ext cx="3404711"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User-Friendly Interface</a:t>
            </a:r>
            <a:endParaRPr lang="en-US" sz="2200" dirty="0"/>
          </a:p>
        </p:txBody>
      </p:sp>
      <p:sp>
        <p:nvSpPr>
          <p:cNvPr id="5" name="Text 2"/>
          <p:cNvSpPr/>
          <p:nvPr/>
        </p:nvSpPr>
        <p:spPr>
          <a:xfrm>
            <a:off x="793790" y="5415439"/>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Designed for intuitive interaction, making NLP analysis accessible.</a:t>
            </a:r>
            <a:endParaRPr lang="en-US" sz="1750" dirty="0"/>
          </a:p>
        </p:txBody>
      </p:sp>
      <p:pic>
        <p:nvPicPr>
          <p:cNvPr id="6" name="Image 1" descr="preencoded.png"/>
          <p:cNvPicPr>
            <a:picLocks noChangeAspect="1"/>
          </p:cNvPicPr>
          <p:nvPr/>
        </p:nvPicPr>
        <p:blipFill>
          <a:blip r:embed="rId4"/>
          <a:stretch>
            <a:fillRect/>
          </a:stretch>
        </p:blipFill>
        <p:spPr>
          <a:xfrm>
            <a:off x="5235893" y="2128004"/>
            <a:ext cx="4158615" cy="2570202"/>
          </a:xfrm>
          <a:prstGeom prst="rect">
            <a:avLst/>
          </a:prstGeom>
        </p:spPr>
      </p:pic>
      <p:sp>
        <p:nvSpPr>
          <p:cNvPr id="7" name="Text 3"/>
          <p:cNvSpPr/>
          <p:nvPr/>
        </p:nvSpPr>
        <p:spPr>
          <a:xfrm>
            <a:off x="5235893" y="492502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Real-Time Analysis</a:t>
            </a:r>
            <a:endParaRPr lang="en-US" sz="2200" dirty="0"/>
          </a:p>
        </p:txBody>
      </p:sp>
      <p:sp>
        <p:nvSpPr>
          <p:cNvPr id="8" name="Text 4"/>
          <p:cNvSpPr/>
          <p:nvPr/>
        </p:nvSpPr>
        <p:spPr>
          <a:xfrm>
            <a:off x="5235893" y="5415439"/>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Instantly classifies comments upon user input.</a:t>
            </a:r>
            <a:endParaRPr lang="en-US" sz="1750" dirty="0"/>
          </a:p>
        </p:txBody>
      </p:sp>
      <p:pic>
        <p:nvPicPr>
          <p:cNvPr id="9" name="Image 2" descr="preencoded.png"/>
          <p:cNvPicPr>
            <a:picLocks noChangeAspect="1"/>
          </p:cNvPicPr>
          <p:nvPr/>
        </p:nvPicPr>
        <p:blipFill>
          <a:blip r:embed="rId5"/>
          <a:stretch>
            <a:fillRect/>
          </a:stretch>
        </p:blipFill>
        <p:spPr>
          <a:xfrm>
            <a:off x="9677995" y="2128004"/>
            <a:ext cx="4158615" cy="2570202"/>
          </a:xfrm>
          <a:prstGeom prst="rect">
            <a:avLst/>
          </a:prstGeom>
        </p:spPr>
      </p:pic>
      <p:sp>
        <p:nvSpPr>
          <p:cNvPr id="10" name="Text 5"/>
          <p:cNvSpPr/>
          <p:nvPr/>
        </p:nvSpPr>
        <p:spPr>
          <a:xfrm>
            <a:off x="9677995" y="4925020"/>
            <a:ext cx="392108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Multiple Comment Support</a:t>
            </a:r>
            <a:endParaRPr lang="en-US" sz="2200" dirty="0"/>
          </a:p>
        </p:txBody>
      </p:sp>
      <p:sp>
        <p:nvSpPr>
          <p:cNvPr id="11" name="Text 6"/>
          <p:cNvSpPr/>
          <p:nvPr/>
        </p:nvSpPr>
        <p:spPr>
          <a:xfrm>
            <a:off x="9677995" y="5415439"/>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Allows analysis of several comments entered simultaneously, line by line.</a:t>
            </a:r>
            <a:endParaRPr lang="en-US" sz="1750" dirty="0"/>
          </a:p>
        </p:txBody>
      </p:sp>
      <p:sp>
        <p:nvSpPr>
          <p:cNvPr id="12" name="Text 7"/>
          <p:cNvSpPr/>
          <p:nvPr/>
        </p:nvSpPr>
        <p:spPr>
          <a:xfrm>
            <a:off x="793790" y="639639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The Streamlit application serves as the front-end, enabling users to effortlessly input comments and receive immediate classification results, complete with confidence scores.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72929" y="786170"/>
            <a:ext cx="7998142" cy="818436"/>
          </a:xfrm>
          <a:prstGeom prst="rect">
            <a:avLst/>
          </a:prstGeom>
          <a:noFill/>
          <a:ln/>
        </p:spPr>
        <p:txBody>
          <a:bodyPr wrap="square" lIns="0" tIns="0" rIns="0" bIns="0" rtlCol="0" anchor="t"/>
          <a:lstStyle/>
          <a:p>
            <a:pPr marL="0" indent="0" algn="l">
              <a:lnSpc>
                <a:spcPts val="3200"/>
              </a:lnSpc>
              <a:buNone/>
            </a:pPr>
            <a:r>
              <a:rPr lang="en-US" sz="2550" b="1" dirty="0">
                <a:solidFill>
                  <a:srgbClr val="3B4540"/>
                </a:solidFill>
                <a:latin typeface="Fraunces Extra Bold" pitchFamily="34" charset="0"/>
                <a:ea typeface="Fraunces Extra Bold" pitchFamily="34" charset="-122"/>
                <a:cs typeface="Fraunces Extra Bold" pitchFamily="34" charset="-120"/>
              </a:rPr>
              <a:t>Conclusion: Achievements and Future Directions</a:t>
            </a:r>
            <a:endParaRPr lang="en-US" sz="2550" dirty="0"/>
          </a:p>
        </p:txBody>
      </p:sp>
      <p:sp>
        <p:nvSpPr>
          <p:cNvPr id="4" name="Text 1"/>
          <p:cNvSpPr/>
          <p:nvPr/>
        </p:nvSpPr>
        <p:spPr>
          <a:xfrm>
            <a:off x="572929" y="2013704"/>
            <a:ext cx="2455426" cy="306824"/>
          </a:xfrm>
          <a:prstGeom prst="rect">
            <a:avLst/>
          </a:prstGeom>
          <a:noFill/>
          <a:ln/>
        </p:spPr>
        <p:txBody>
          <a:bodyPr wrap="none" lIns="0" tIns="0" rIns="0" bIns="0" rtlCol="0" anchor="t"/>
          <a:lstStyle/>
          <a:p>
            <a:pPr marL="0" indent="0" algn="l">
              <a:lnSpc>
                <a:spcPts val="2400"/>
              </a:lnSpc>
              <a:buNone/>
            </a:pPr>
            <a:r>
              <a:rPr lang="en-US" sz="1900" b="1" dirty="0">
                <a:solidFill>
                  <a:srgbClr val="3B4540"/>
                </a:solidFill>
                <a:latin typeface="Fraunces Extra Bold" pitchFamily="34" charset="0"/>
                <a:ea typeface="Fraunces Extra Bold" pitchFamily="34" charset="-122"/>
                <a:cs typeface="Fraunces Extra Bold" pitchFamily="34" charset="-120"/>
              </a:rPr>
              <a:t>Key Advantages</a:t>
            </a:r>
            <a:endParaRPr lang="en-US" sz="19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246" y="2509659"/>
            <a:ext cx="245507" cy="245507"/>
          </a:xfrm>
          <a:prstGeom prst="rect">
            <a:avLst/>
          </a:prstGeom>
        </p:spPr>
      </p:pic>
      <p:sp>
        <p:nvSpPr>
          <p:cNvPr id="6" name="Text 2"/>
          <p:cNvSpPr/>
          <p:nvPr/>
        </p:nvSpPr>
        <p:spPr>
          <a:xfrm>
            <a:off x="1104781" y="2504599"/>
            <a:ext cx="2421850"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Automated Moderation</a:t>
            </a:r>
            <a:endParaRPr lang="en-US" sz="1600" dirty="0"/>
          </a:p>
        </p:txBody>
      </p:sp>
      <p:sp>
        <p:nvSpPr>
          <p:cNvPr id="7" name="Text 3"/>
          <p:cNvSpPr/>
          <p:nvPr/>
        </p:nvSpPr>
        <p:spPr>
          <a:xfrm>
            <a:off x="1104781" y="2923937"/>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Significantly reduces manual effort in content review.</a:t>
            </a:r>
            <a:endParaRPr lang="en-US" sz="12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246" y="3780175"/>
            <a:ext cx="245507" cy="245507"/>
          </a:xfrm>
          <a:prstGeom prst="rect">
            <a:avLst/>
          </a:prstGeom>
        </p:spPr>
      </p:pic>
      <p:sp>
        <p:nvSpPr>
          <p:cNvPr id="9" name="Text 4"/>
          <p:cNvSpPr/>
          <p:nvPr/>
        </p:nvSpPr>
        <p:spPr>
          <a:xfrm>
            <a:off x="1104781" y="3775115"/>
            <a:ext cx="2046208"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Rapid Analysis</a:t>
            </a:r>
            <a:endParaRPr lang="en-US" sz="1600" dirty="0"/>
          </a:p>
        </p:txBody>
      </p:sp>
      <p:sp>
        <p:nvSpPr>
          <p:cNvPr id="10" name="Text 5"/>
          <p:cNvSpPr/>
          <p:nvPr/>
        </p:nvSpPr>
        <p:spPr>
          <a:xfrm>
            <a:off x="1104781" y="4194453"/>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Provides fast, real-time results via a web interface.</a:t>
            </a:r>
            <a:endParaRPr lang="en-US" sz="125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246" y="5050691"/>
            <a:ext cx="245507" cy="245507"/>
          </a:xfrm>
          <a:prstGeom prst="rect">
            <a:avLst/>
          </a:prstGeom>
        </p:spPr>
      </p:pic>
      <p:sp>
        <p:nvSpPr>
          <p:cNvPr id="12" name="Text 6"/>
          <p:cNvSpPr/>
          <p:nvPr/>
        </p:nvSpPr>
        <p:spPr>
          <a:xfrm>
            <a:off x="1104781" y="5045631"/>
            <a:ext cx="2256473"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Scalable NLP Pipeline</a:t>
            </a:r>
            <a:endParaRPr lang="en-US" sz="1600" dirty="0"/>
          </a:p>
        </p:txBody>
      </p:sp>
      <p:sp>
        <p:nvSpPr>
          <p:cNvPr id="13" name="Text 7"/>
          <p:cNvSpPr/>
          <p:nvPr/>
        </p:nvSpPr>
        <p:spPr>
          <a:xfrm>
            <a:off x="1104781" y="5464969"/>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Reusable for various text classification tasks.</a:t>
            </a:r>
            <a:endParaRPr lang="en-US" sz="1250" dirty="0"/>
          </a:p>
        </p:txBody>
      </p:sp>
      <p:pic>
        <p:nvPicPr>
          <p:cNvPr id="14"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246" y="6321207"/>
            <a:ext cx="245507" cy="245507"/>
          </a:xfrm>
          <a:prstGeom prst="rect">
            <a:avLst/>
          </a:prstGeom>
        </p:spPr>
      </p:pic>
      <p:sp>
        <p:nvSpPr>
          <p:cNvPr id="15" name="Text 8"/>
          <p:cNvSpPr/>
          <p:nvPr/>
        </p:nvSpPr>
        <p:spPr>
          <a:xfrm>
            <a:off x="1104781" y="6316147"/>
            <a:ext cx="2046208"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User-Friendly</a:t>
            </a:r>
            <a:endParaRPr lang="en-US" sz="1600" dirty="0"/>
          </a:p>
        </p:txBody>
      </p:sp>
      <p:sp>
        <p:nvSpPr>
          <p:cNvPr id="16" name="Text 9"/>
          <p:cNvSpPr/>
          <p:nvPr/>
        </p:nvSpPr>
        <p:spPr>
          <a:xfrm>
            <a:off x="1104781" y="6735485"/>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Ideal for demonstrations and practical projects.</a:t>
            </a:r>
            <a:endParaRPr lang="en-US" sz="1250" dirty="0"/>
          </a:p>
        </p:txBody>
      </p:sp>
      <p:sp>
        <p:nvSpPr>
          <p:cNvPr id="17" name="Text 10"/>
          <p:cNvSpPr/>
          <p:nvPr/>
        </p:nvSpPr>
        <p:spPr>
          <a:xfrm>
            <a:off x="4779288" y="2013704"/>
            <a:ext cx="2744272" cy="306824"/>
          </a:xfrm>
          <a:prstGeom prst="rect">
            <a:avLst/>
          </a:prstGeom>
          <a:noFill/>
          <a:ln/>
        </p:spPr>
        <p:txBody>
          <a:bodyPr wrap="none" lIns="0" tIns="0" rIns="0" bIns="0" rtlCol="0" anchor="t"/>
          <a:lstStyle/>
          <a:p>
            <a:pPr marL="0" indent="0" algn="l">
              <a:lnSpc>
                <a:spcPts val="2400"/>
              </a:lnSpc>
              <a:buNone/>
            </a:pPr>
            <a:r>
              <a:rPr lang="en-US" sz="1900" b="1" dirty="0">
                <a:solidFill>
                  <a:srgbClr val="3B4540"/>
                </a:solidFill>
                <a:latin typeface="Fraunces Extra Bold" pitchFamily="34" charset="0"/>
                <a:ea typeface="Fraunces Extra Bold" pitchFamily="34" charset="-122"/>
                <a:cs typeface="Fraunces Extra Bold" pitchFamily="34" charset="-120"/>
              </a:rPr>
              <a:t>Future Improvements</a:t>
            </a:r>
            <a:endParaRPr lang="en-US" sz="1900" dirty="0"/>
          </a:p>
        </p:txBody>
      </p:sp>
      <p:pic>
        <p:nvPicPr>
          <p:cNvPr id="18"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40605" y="2509659"/>
            <a:ext cx="245507" cy="245507"/>
          </a:xfrm>
          <a:prstGeom prst="rect">
            <a:avLst/>
          </a:prstGeom>
        </p:spPr>
      </p:pic>
      <p:sp>
        <p:nvSpPr>
          <p:cNvPr id="19" name="Text 11"/>
          <p:cNvSpPr/>
          <p:nvPr/>
        </p:nvSpPr>
        <p:spPr>
          <a:xfrm>
            <a:off x="5311140" y="2504599"/>
            <a:ext cx="2296954"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Advanced NLP Models</a:t>
            </a:r>
            <a:endParaRPr lang="en-US" sz="1600" dirty="0"/>
          </a:p>
        </p:txBody>
      </p:sp>
      <p:sp>
        <p:nvSpPr>
          <p:cNvPr id="20" name="Text 12"/>
          <p:cNvSpPr/>
          <p:nvPr/>
        </p:nvSpPr>
        <p:spPr>
          <a:xfrm>
            <a:off x="5311140" y="2923937"/>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Integrate deep learning models like BERT for enhanced contextual understanding.</a:t>
            </a:r>
            <a:endParaRPr lang="en-US" sz="1250" dirty="0"/>
          </a:p>
        </p:txBody>
      </p:sp>
      <p:pic>
        <p:nvPicPr>
          <p:cNvPr id="21" name="Image 6"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40605" y="3780175"/>
            <a:ext cx="245507" cy="245507"/>
          </a:xfrm>
          <a:prstGeom prst="rect">
            <a:avLst/>
          </a:prstGeom>
        </p:spPr>
      </p:pic>
      <p:sp>
        <p:nvSpPr>
          <p:cNvPr id="22" name="Text 13"/>
          <p:cNvSpPr/>
          <p:nvPr/>
        </p:nvSpPr>
        <p:spPr>
          <a:xfrm>
            <a:off x="5311140" y="3775115"/>
            <a:ext cx="2182535"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Multilingual Support</a:t>
            </a:r>
            <a:endParaRPr lang="en-US" sz="1600" dirty="0"/>
          </a:p>
        </p:txBody>
      </p:sp>
      <p:sp>
        <p:nvSpPr>
          <p:cNvPr id="23" name="Text 14"/>
          <p:cNvSpPr/>
          <p:nvPr/>
        </p:nvSpPr>
        <p:spPr>
          <a:xfrm>
            <a:off x="5311140" y="4194453"/>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Expand functionality to classify comments in multiple languages.</a:t>
            </a:r>
            <a:endParaRPr lang="en-US" sz="1250" dirty="0"/>
          </a:p>
        </p:txBody>
      </p:sp>
      <p:pic>
        <p:nvPicPr>
          <p:cNvPr id="24" name="Image 7"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40605" y="5050691"/>
            <a:ext cx="245507" cy="245507"/>
          </a:xfrm>
          <a:prstGeom prst="rect">
            <a:avLst/>
          </a:prstGeom>
        </p:spPr>
      </p:pic>
      <p:sp>
        <p:nvSpPr>
          <p:cNvPr id="25" name="Text 15"/>
          <p:cNvSpPr/>
          <p:nvPr/>
        </p:nvSpPr>
        <p:spPr>
          <a:xfrm>
            <a:off x="5311140" y="5045631"/>
            <a:ext cx="2113240"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Enhanced UI Visuals</a:t>
            </a:r>
            <a:endParaRPr lang="en-US" sz="1600" dirty="0"/>
          </a:p>
        </p:txBody>
      </p:sp>
      <p:sp>
        <p:nvSpPr>
          <p:cNvPr id="26" name="Text 16"/>
          <p:cNvSpPr/>
          <p:nvPr/>
        </p:nvSpPr>
        <p:spPr>
          <a:xfrm>
            <a:off x="5311140" y="5464969"/>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Add visual indicators for prediction probabilities and other insights.</a:t>
            </a:r>
            <a:endParaRPr lang="en-US" sz="1250" dirty="0"/>
          </a:p>
        </p:txBody>
      </p:sp>
      <p:pic>
        <p:nvPicPr>
          <p:cNvPr id="27" name="Image 8"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40605" y="6321207"/>
            <a:ext cx="245507" cy="245507"/>
          </a:xfrm>
          <a:prstGeom prst="rect">
            <a:avLst/>
          </a:prstGeom>
        </p:spPr>
      </p:pic>
      <p:sp>
        <p:nvSpPr>
          <p:cNvPr id="28" name="Text 17"/>
          <p:cNvSpPr/>
          <p:nvPr/>
        </p:nvSpPr>
        <p:spPr>
          <a:xfrm>
            <a:off x="5311140" y="6316147"/>
            <a:ext cx="2746058" cy="255746"/>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Contextual Understanding</a:t>
            </a:r>
            <a:endParaRPr lang="en-US" sz="1600" dirty="0"/>
          </a:p>
        </p:txBody>
      </p:sp>
      <p:sp>
        <p:nvSpPr>
          <p:cNvPr id="29" name="Text 18"/>
          <p:cNvSpPr/>
          <p:nvPr/>
        </p:nvSpPr>
        <p:spPr>
          <a:xfrm>
            <a:off x="5311140" y="6735485"/>
            <a:ext cx="3267551" cy="523875"/>
          </a:xfrm>
          <a:prstGeom prst="rect">
            <a:avLst/>
          </a:prstGeom>
          <a:noFill/>
          <a:ln/>
        </p:spPr>
        <p:txBody>
          <a:bodyPr wrap="square" lIns="0" tIns="0" rIns="0" bIns="0" rtlCol="0" anchor="t"/>
          <a:lstStyle/>
          <a:p>
            <a:pPr marL="0" indent="0" algn="l">
              <a:lnSpc>
                <a:spcPts val="2050"/>
              </a:lnSpc>
              <a:buNone/>
            </a:pPr>
            <a:r>
              <a:rPr lang="en-US" sz="1250" dirty="0">
                <a:solidFill>
                  <a:srgbClr val="405449"/>
                </a:solidFill>
                <a:latin typeface="Nobile" pitchFamily="34" charset="0"/>
                <a:ea typeface="Nobile" pitchFamily="34" charset="-122"/>
                <a:cs typeface="Nobile" pitchFamily="34" charset="-120"/>
              </a:rPr>
              <a:t>Develop methods to better interpret sarcasm and subtle toxicity.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7EE8B5-CF84-3AA4-F3A6-768BA34CF1E1}"/>
              </a:ext>
            </a:extLst>
          </p:cNvPr>
          <p:cNvSpPr txBox="1"/>
          <p:nvPr/>
        </p:nvSpPr>
        <p:spPr>
          <a:xfrm>
            <a:off x="4100660" y="3431358"/>
            <a:ext cx="5162760" cy="1107996"/>
          </a:xfrm>
          <a:prstGeom prst="rect">
            <a:avLst/>
          </a:prstGeom>
          <a:noFill/>
        </p:spPr>
        <p:txBody>
          <a:bodyPr wrap="none" rtlCol="0">
            <a:spAutoFit/>
          </a:bodyPr>
          <a:lstStyle/>
          <a:p>
            <a:r>
              <a:rPr lang="en-US" sz="6600" dirty="0">
                <a:solidFill>
                  <a:schemeClr val="accent1"/>
                </a:solidFill>
              </a:rPr>
              <a:t>THANK YOU !</a:t>
            </a:r>
            <a:endParaRPr lang="en-IN" sz="6600" dirty="0">
              <a:solidFill>
                <a:schemeClr val="accent1"/>
              </a:solidFill>
            </a:endParaRPr>
          </a:p>
        </p:txBody>
      </p:sp>
    </p:spTree>
    <p:extLst>
      <p:ext uri="{BB962C8B-B14F-4D97-AF65-F5344CB8AC3E}">
        <p14:creationId xmlns:p14="http://schemas.microsoft.com/office/powerpoint/2010/main" val="191441234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17</TotalTime>
  <Words>739</Words>
  <Application>Microsoft Office PowerPoint</Application>
  <PresentationFormat>Custom</PresentationFormat>
  <Paragraphs>107</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Fraunces Light</vt:lpstr>
      <vt:lpstr>Fraunces Extra Bold</vt:lpstr>
      <vt:lpstr>Wingdings 3</vt:lpstr>
      <vt:lpstr>Nobile</vt:lpstr>
      <vt:lpstr>Consolas</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Madhumitha Venkatesan</cp:lastModifiedBy>
  <cp:revision>1</cp:revision>
  <dcterms:created xsi:type="dcterms:W3CDTF">2025-12-31T07:35:55Z</dcterms:created>
  <dcterms:modified xsi:type="dcterms:W3CDTF">2026-01-06T04:09:17Z</dcterms:modified>
</cp:coreProperties>
</file>